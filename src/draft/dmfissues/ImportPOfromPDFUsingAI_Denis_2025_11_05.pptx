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16"/>
  </p:handoutMasterIdLst>
  <p:sldIdLst>
    <p:sldId id="266" r:id="rId5"/>
    <p:sldId id="267" r:id="rId6"/>
    <p:sldId id="272" r:id="rId7"/>
    <p:sldId id="268" r:id="rId8"/>
    <p:sldId id="271" r:id="rId9"/>
    <p:sldId id="269" r:id="rId10"/>
    <p:sldId id="274" r:id="rId11"/>
    <p:sldId id="275" r:id="rId12"/>
    <p:sldId id="276" r:id="rId13"/>
    <p:sldId id="277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3C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2AC4B0-1E3E-A84E-093B-A631ADD6E6E6}" v="2" dt="2025-02-25T18:30:42.3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14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7B42D2-6BC8-563A-C56E-B329D36830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88BF6-01FC-9348-9269-F8C9F2B4B1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73DFE-FC81-1F4E-BCB7-DF8EC2A052B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0B157-394F-5507-A265-87FDFC4373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55C0D8-75EF-B9E3-82C9-E8F70A0C88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891B4-FC28-EE41-BBC7-727500703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48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ynamicsusergroup.com/meetup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ynamicsusergroup.com/meetup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hyperlink" Target="https://dynamicsusergroup.com/meetup/" TargetMode="External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hlinkClick r:id="rId2"/>
            <a:extLst>
              <a:ext uri="{FF2B5EF4-FFF2-40B4-BE49-F238E27FC236}">
                <a16:creationId xmlns:a16="http://schemas.microsoft.com/office/drawing/2014/main" id="{A6A17DE0-09F0-905B-2A99-2ACA74706A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AE0900-BF21-AF02-85BB-E334C3E8D2D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D4655E84-83B6-7C70-3CB0-68DC26179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28" name="Picture 27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4B7725C-702B-1313-87C6-5F20E6D85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A5BCF2D-7E08-0C44-DB3A-5631DF358DB5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30" name="Graphic 29" descr="Link with solid fill">
            <a:extLst>
              <a:ext uri="{FF2B5EF4-FFF2-40B4-BE49-F238E27FC236}">
                <a16:creationId xmlns:a16="http://schemas.microsoft.com/office/drawing/2014/main" id="{967F4149-FDE7-CF6A-5F6A-DF441AF68E8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9759B8C1-559D-DF2C-611F-D0EA94C3D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71E23B4-573A-EC8E-4D69-9D8C243A71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5072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16C70FA3-E230-E727-18E2-F61A34C67A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9" name="Picture 8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D3CABB2E-E743-3B28-1D24-7E9ABC7CF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317F4F-81AA-694F-2DD8-1C6EB01CEB37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1" name="Graphic 10" descr="Link with solid fill">
            <a:extLst>
              <a:ext uri="{FF2B5EF4-FFF2-40B4-BE49-F238E27FC236}">
                <a16:creationId xmlns:a16="http://schemas.microsoft.com/office/drawing/2014/main" id="{C8238BBE-00FC-0DE0-E484-522E04811E2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12" name="Rectangle 11">
            <a:hlinkClick r:id="rId4"/>
            <a:extLst>
              <a:ext uri="{FF2B5EF4-FFF2-40B4-BE49-F238E27FC236}">
                <a16:creationId xmlns:a16="http://schemas.microsoft.com/office/drawing/2014/main" id="{AC24F5B6-812D-08EF-8CE0-65BFE802CA1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BEB76-834E-D6F2-3AE3-5469EB87795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004"/>
            <a:ext cx="10515600" cy="1325563"/>
          </a:xfrm>
        </p:spPr>
        <p:txBody>
          <a:bodyPr>
            <a:no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39417"/>
            <a:ext cx="10515600" cy="435133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7C7E2F-CBB6-3DA8-328B-93B2C3D314FE}"/>
              </a:ext>
            </a:extLst>
          </p:cNvPr>
          <p:cNvSpPr txBox="1"/>
          <p:nvPr userDrawn="1"/>
        </p:nvSpPr>
        <p:spPr>
          <a:xfrm>
            <a:off x="284086" y="82112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6" name="Graphic 15" descr="Link with solid fill">
            <a:extLst>
              <a:ext uri="{FF2B5EF4-FFF2-40B4-BE49-F238E27FC236}">
                <a16:creationId xmlns:a16="http://schemas.microsoft.com/office/drawing/2014/main" id="{FADC828C-E869-ECEE-CC36-E1BAF402810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3659"/>
            <a:ext cx="280715" cy="280715"/>
          </a:xfrm>
          <a:prstGeom prst="rect">
            <a:avLst/>
          </a:prstGeom>
        </p:spPr>
      </p:pic>
      <p:pic>
        <p:nvPicPr>
          <p:cNvPr id="19" name="Picture 18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404A3745-F99F-76E5-CB7B-90B171817C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7" y="6104272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20" name="Picture 19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8E24767-CEC5-1075-B15B-31A78966B5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2927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093243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A0B500-3357-3C9D-A9DF-4C372048024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873407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96232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Al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A0B500-3357-3C9D-A9DF-4C372048024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67517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199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500897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8210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4871991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82741"/>
            <a:ext cx="5181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96537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4871991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3787407"/>
            <a:ext cx="5181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99715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5112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1891706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1891706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47216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3796372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3796372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59403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706014-F171-15C0-C74A-3436728C9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05200" y="1925966"/>
            <a:ext cx="5181600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200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0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F39427C-BDDB-910D-15D2-A20CE3DE1C7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780928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80EDAD4-5E86-1867-1B20-092B2F7776C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780928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17767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706014-F171-15C0-C74A-3436728C9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810926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810926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9C8F19-5607-4444-B661-DCA403F0D17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9957" y="1925966"/>
            <a:ext cx="3785831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7A41B-FBE9-AB25-80B8-B8EE5D5259E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566213" y="1908037"/>
            <a:ext cx="3787278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902572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362FD6-1D77-DC09-28C3-1267FDDB28F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AE0900-BF21-AF02-85BB-E334C3E8D2D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D4655E84-83B6-7C70-3CB0-68DC26179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28" name="Picture 27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4B7725C-702B-1313-87C6-5F20E6D85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A5BCF2D-7E08-0C44-DB3A-5631DF358DB5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30" name="Graphic 29" descr="Link with solid fill">
            <a:extLst>
              <a:ext uri="{FF2B5EF4-FFF2-40B4-BE49-F238E27FC236}">
                <a16:creationId xmlns:a16="http://schemas.microsoft.com/office/drawing/2014/main" id="{967F4149-FDE7-CF6A-5F6A-DF441AF68E8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9759B8C1-559D-DF2C-611F-D0EA94C3D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71E23B4-573A-EC8E-4D69-9D8C243A71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797547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6515E0-800C-CF04-2D44-D693CBE7EF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17F4F-81AA-694F-2DD8-1C6EB01CEB37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1" name="Graphic 10" descr="Link with solid fill">
            <a:extLst>
              <a:ext uri="{FF2B5EF4-FFF2-40B4-BE49-F238E27FC236}">
                <a16:creationId xmlns:a16="http://schemas.microsoft.com/office/drawing/2014/main" id="{C8238BBE-00FC-0DE0-E484-522E04811E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7BEB76-834E-D6F2-3AE3-5469EB87795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004"/>
            <a:ext cx="10515600" cy="1325563"/>
          </a:xfrm>
        </p:spPr>
        <p:txBody>
          <a:bodyPr>
            <a:no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39417"/>
            <a:ext cx="10515600" cy="435133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/>
              <a:t>Click to add content</a:t>
            </a:r>
          </a:p>
        </p:txBody>
      </p:sp>
      <p:pic>
        <p:nvPicPr>
          <p:cNvPr id="16" name="Graphic 15" descr="Link with solid fill">
            <a:extLst>
              <a:ext uri="{FF2B5EF4-FFF2-40B4-BE49-F238E27FC236}">
                <a16:creationId xmlns:a16="http://schemas.microsoft.com/office/drawing/2014/main" id="{FADC828C-E869-ECEE-CC36-E1BAF40281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4" y="83659"/>
            <a:ext cx="280715" cy="280715"/>
          </a:xfrm>
          <a:prstGeom prst="rect">
            <a:avLst/>
          </a:prstGeom>
        </p:spPr>
      </p:pic>
      <p:pic>
        <p:nvPicPr>
          <p:cNvPr id="8" name="Picture 7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16C70FA3-E230-E727-18E2-F61A34C67A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9" name="Picture 8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D3CABB2E-E743-3B28-1D24-7E9ABC7CF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6740802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67A081-BFD4-8AE4-A231-04094009BD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873407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916742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A19DBC-8D7B-5A43-E24C-9C284481CC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67517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199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066971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D2A709-7DDD-B12F-58C7-CCC75FFE2F7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8210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4871991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82741"/>
            <a:ext cx="5181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83015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0805F0-CB02-595B-4581-AA305BD630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4871991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3787407"/>
            <a:ext cx="5181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52020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706480-2151-0A3E-E111-E8E3560D07A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5112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1891706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1891706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92956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E3C654-8EE9-233C-8D36-58A1FD4740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3796372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3796372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800759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77418-C275-7FA5-D026-9B5CDB9A4D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05200" y="1925966"/>
            <a:ext cx="5181600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200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0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F39427C-BDDB-910D-15D2-A20CE3DE1C7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780928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80EDAD4-5E86-1867-1B20-092B2F7776C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780928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982539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x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BE69CD-892F-254B-61DD-F1B727794F6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810926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810926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9C8F19-5607-4444-B661-DCA403F0D17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9957" y="1925966"/>
            <a:ext cx="3785831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7A41B-FBE9-AB25-80B8-B8EE5D5259E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566213" y="1908037"/>
            <a:ext cx="3787278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5742656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176-A085-BE68-4331-7CBE68466CB5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4B7725C-702B-1313-87C6-5F20E6D85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pic>
        <p:nvPicPr>
          <p:cNvPr id="27" name="Picture 26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D4655E84-83B6-7C70-3CB0-68DC26179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095AD5-74DA-527A-BB3D-477FF0F400D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5" name="Graphic 4" descr="Link with solid fill">
            <a:extLst>
              <a:ext uri="{FF2B5EF4-FFF2-40B4-BE49-F238E27FC236}">
                <a16:creationId xmlns:a16="http://schemas.microsoft.com/office/drawing/2014/main" id="{567AFE4A-D64A-7E7A-9802-F97DE19BB5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9759B8C1-559D-DF2C-611F-D0EA94C3D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71E23B4-573A-EC8E-4D69-9D8C243A71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3491869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ACF1B06-DB24-F92F-0B03-57E4534D5E9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Link with solid fill">
            <a:extLst>
              <a:ext uri="{FF2B5EF4-FFF2-40B4-BE49-F238E27FC236}">
                <a16:creationId xmlns:a16="http://schemas.microsoft.com/office/drawing/2014/main" id="{C8238BBE-00FC-0DE0-E484-522E04811E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004"/>
            <a:ext cx="10515600" cy="1325563"/>
          </a:xfrm>
        </p:spPr>
        <p:txBody>
          <a:bodyPr>
            <a:no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39417"/>
            <a:ext cx="10515600" cy="435133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content</a:t>
            </a:r>
          </a:p>
        </p:txBody>
      </p:sp>
      <p:pic>
        <p:nvPicPr>
          <p:cNvPr id="8" name="Picture 7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16C70FA3-E230-E727-18E2-F61A34C67A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9" name="Picture 8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D3CABB2E-E743-3B28-1D24-7E9ABC7CF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pic>
        <p:nvPicPr>
          <p:cNvPr id="25" name="Graphic 24" descr="Link with solid fill">
            <a:extLst>
              <a:ext uri="{FF2B5EF4-FFF2-40B4-BE49-F238E27FC236}">
                <a16:creationId xmlns:a16="http://schemas.microsoft.com/office/drawing/2014/main" id="{DA749C38-CA41-6B2A-0E9D-C5E9193F2D7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614" y="88069"/>
            <a:ext cx="280715" cy="2807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A08586B-8C89-8043-8BFC-547E06E1F067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731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E4BFC8-A8C1-41E7-AF4D-E99F01493EEB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071D18-69BE-364C-AF92-A07B04DD36B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4E16832E-E4F7-3794-698C-D01C1CBE0DA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873407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1736351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0A9AD7-AE83-0564-A147-42877A7644E6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D66021-E08E-0DB7-2C1B-F99EA29536D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C92B9940-1970-389C-7E9F-DC87BE67A26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199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67517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8878489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2D433B-1DF1-DC14-DE45-F7335836C866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3C7F87-B47E-0D7E-8FC1-F6C13DA4EF33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D3DB8DBF-443A-3938-B5A4-34F94E8625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82741"/>
            <a:ext cx="5181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8210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4871991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5225763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C302C21-FE6B-ED4D-7E14-EDA43DF1D467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C94B4D-4207-EB8E-C67A-DE0C372278A2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E0CD3C94-92F3-BF87-E526-7E9C2F7A0D6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4871991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3787407"/>
            <a:ext cx="5181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84515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8EC0CF-9CC0-DADE-0389-9E1DF855AB7A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6E824E-AE3F-8F93-A04A-975D23D36574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9" name="Graphic 8" descr="Link with solid fill">
            <a:extLst>
              <a:ext uri="{FF2B5EF4-FFF2-40B4-BE49-F238E27FC236}">
                <a16:creationId xmlns:a16="http://schemas.microsoft.com/office/drawing/2014/main" id="{B8828D2E-C68E-AE90-6D7E-A3DE9C277AA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1891706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1891706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5112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593456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5EFC81-A811-C645-1A5D-9D90A392322A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480007-EF42-FAFF-D8CE-48991574BA8C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9" name="Graphic 8" descr="Link with solid fill">
            <a:extLst>
              <a:ext uri="{FF2B5EF4-FFF2-40B4-BE49-F238E27FC236}">
                <a16:creationId xmlns:a16="http://schemas.microsoft.com/office/drawing/2014/main" id="{233238D4-6CE8-1C55-EC59-7EB0706568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3796372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3796372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9005035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6251E9-490C-E559-1595-26EE567F8F56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2A2350-EEEE-7E96-1343-F01C3375484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77A0FB75-3E5C-C419-E9BD-7D8E003D6CD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80EDAD4-5E86-1867-1B20-092B2F7776C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780928" y="4156883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F39427C-BDDB-910D-15D2-A20CE3DE1C7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780928" y="1925967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0" y="4156883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200" y="1925967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05200" y="1925966"/>
            <a:ext cx="5181600" cy="43672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796886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x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E8AA6C6-C47F-E4FF-7465-65CC94340252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23F0640-3F18-1996-D8A6-79B0FAE73A21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119CC8FD-C082-8B07-BF8A-76F1F44AF1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7A41B-FBE9-AB25-80B8-B8EE5D5259E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566213" y="1908037"/>
            <a:ext cx="3787278" cy="43672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9C8F19-5607-4444-B661-DCA403F0D17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9957" y="1925966"/>
            <a:ext cx="3785831" cy="43672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810926" y="4156883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810926" y="1925967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347007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A54C5-3BE7-F382-F5CC-55B30137C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8AD6E-7230-1699-2C6D-6BD9A053D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1BD95-220E-4B8D-4C04-DC47AA537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A5AF9-5835-A120-EF43-69BF609D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B5114-85F7-B8F9-63C1-D675BF21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79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7EC17-1E6C-4ADB-E888-F497B6710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8BE92-4F8D-121F-634C-34DFF6348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189B3-BDCF-8F73-AA0E-18773DA57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025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5A6D-ADA0-27C3-B9E2-929173795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07435-F10B-8E1E-6D98-80050CBED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E7AD3-9037-5DA0-EA14-CF702B66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3B34A-2684-0240-49DA-D4ABA199D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74CE8-1FFF-C427-70A6-492EB7111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8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62FE7-930E-469C-BEC2-DBC6F20CB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4F729-721F-B847-FC72-F070BF0F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7B801-C62C-DC21-CEE3-6BC051647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44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0C942-E792-3F18-CD95-0068ADA84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F87F5-DCB7-C12D-1D78-3DD616662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0DD7B-83FF-D479-BA60-834431EA6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7CE187-5ABF-09AC-431C-4585C29A3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209AE0-A0D5-016A-5609-F3E36C4D2D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A71CA-02D1-13CE-A9A5-3AF7114AF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60B4B9-9CB5-8F22-BF83-467ABD807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93FECD-0B1C-AF4E-AFD4-B5EA4D22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470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5803E-F897-C2F3-11C5-DCA214350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F11978-CCE2-C896-0491-88678BE2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587808-5FD6-2918-C996-35AF037D7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F63D5-E709-647D-B819-BFB7E9EF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962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99E9ED-0BC0-7550-77F3-77939C2AC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ED737-510C-0BFD-99B1-E53FF2709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A7269-C1DB-7EBB-11CB-4BE1C0354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33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82B0-C5DB-93ED-BD5B-57996E35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48D74-72D4-FBD3-7695-003F21228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C6B0D-CED2-B023-3860-B5CA4E6B4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97A94-7B26-5124-C1A4-E27C04DA5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2A537-5E76-23F4-C988-E8C7D13A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5FEE2-745E-F7A6-1759-CCD63834C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315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1BBBB-5716-F225-7444-60EEDFCFC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B409DF-4F48-6973-7A26-627298EB6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1CD1F-BFAA-75B7-B8DE-FDAD69F38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5E751-F3B3-1EFC-6192-30683F4B7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4C6AA-4C3C-AAA3-0804-064AD458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C2174-9436-FA9A-F52F-C58BBA96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817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0BA18-14CB-1F3A-678E-1F6ED09C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03C19-82A3-123F-1F4B-C89A7974F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FACC8-7A3D-1FF6-895A-54BC71CC6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C2DEB-0E3C-9DA3-82C8-59C9BEDD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AF01A-5DCB-CF44-833E-6F3736BF6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78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356EF-F2AC-DBF3-B062-D61E591FB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D4AC8-4F81-D357-7CEE-98995459A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6BF8E-DD4E-6EA6-2AF3-A4670619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9F7CE-4128-8148-287E-F2D5F3DF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416D1-CC69-1602-20B9-44064F83F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4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7D3C38-32C5-9BC1-6C49-9169AF975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00AAA-333E-DA3A-6C12-933993DE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EA89C-96B6-3A80-637C-7FF667F0B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2B5D9-4FE5-4B46-9656-E11353272EB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573EA-7A1A-0479-55A8-B489912D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E5B69-3D01-1F97-4E7A-E62D96AFD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8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3" r:id="rId4"/>
    <p:sldLayoutId id="2147483664" r:id="rId5"/>
    <p:sldLayoutId id="2147483665" r:id="rId6"/>
    <p:sldLayoutId id="2147483667" r:id="rId7"/>
    <p:sldLayoutId id="2147483666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60" r:id="rId31"/>
    <p:sldLayoutId id="2147483661" r:id="rId32"/>
    <p:sldLayoutId id="2147483651" r:id="rId33"/>
    <p:sldLayoutId id="2147483662" r:id="rId34"/>
    <p:sldLayoutId id="2147483653" r:id="rId35"/>
    <p:sldLayoutId id="2147483654" r:id="rId36"/>
    <p:sldLayoutId id="2147483655" r:id="rId37"/>
    <p:sldLayoutId id="2147483656" r:id="rId38"/>
    <p:sldLayoutId id="2147483657" r:id="rId39"/>
    <p:sldLayoutId id="2147483658" r:id="rId40"/>
    <p:sldLayoutId id="2147483659" r:id="rId4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nistrunin.com/integration-importpurchpdf/" TargetMode="External"/><Relationship Id="rId2" Type="http://schemas.openxmlformats.org/officeDocument/2006/relationships/hyperlink" Target="https://www.linkedin.com/in/denis-trunin-3b73a213/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github.com/TrudAX/XppTools/tree/master?tab=readme-ov-file#devexternalintegration-submode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33240-4EB1-D9EC-20A3-ECDF5D7B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86635"/>
            <a:ext cx="10515600" cy="2062952"/>
          </a:xfrm>
        </p:spPr>
        <p:txBody>
          <a:bodyPr/>
          <a:lstStyle/>
          <a:p>
            <a:r>
              <a:rPr lang="en-US" dirty="0"/>
              <a:t>Import Data from PDF to D365FO using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15ED8-54D2-8C3A-B777-9C16B212F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59785" y="5258095"/>
            <a:ext cx="3380836" cy="897848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Denis Trunin</a:t>
            </a:r>
          </a:p>
          <a:p>
            <a:pPr algn="l"/>
            <a:r>
              <a:rPr lang="en-US" sz="1800" dirty="0"/>
              <a:t>X++ developer</a:t>
            </a:r>
          </a:p>
        </p:txBody>
      </p:sp>
    </p:spTree>
    <p:extLst>
      <p:ext uri="{BB962C8B-B14F-4D97-AF65-F5344CB8AC3E}">
        <p14:creationId xmlns:p14="http://schemas.microsoft.com/office/powerpoint/2010/main" val="3178061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932F-B33C-33E7-5F47-1142B6332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22" y="368511"/>
            <a:ext cx="10515600" cy="1439741"/>
          </a:xfrm>
        </p:spPr>
        <p:txBody>
          <a:bodyPr/>
          <a:lstStyle/>
          <a:p>
            <a:r>
              <a:rPr lang="en-US" sz="2800" dirty="0"/>
              <a:t>External Integration module</a:t>
            </a:r>
            <a:br>
              <a:rPr lang="en-US" sz="2400" dirty="0"/>
            </a:br>
            <a:br>
              <a:rPr lang="en-US" sz="1000" dirty="0"/>
            </a:br>
            <a:r>
              <a:rPr lang="en-US" sz="1400" b="0" dirty="0"/>
              <a:t>Standardized approach for X++ based integrations</a:t>
            </a:r>
            <a:br>
              <a:rPr lang="en-US" sz="1400" b="0" dirty="0"/>
            </a:br>
            <a:r>
              <a:rPr lang="en-US" sz="1400" b="0" dirty="0"/>
              <a:t>Free open-source framework to simplify integration development and support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A2A541-3F2C-EB71-34F1-3A5EC41D9663}"/>
              </a:ext>
            </a:extLst>
          </p:cNvPr>
          <p:cNvSpPr/>
          <p:nvPr/>
        </p:nvSpPr>
        <p:spPr>
          <a:xfrm>
            <a:off x="940943" y="1944383"/>
            <a:ext cx="4812585" cy="1633591"/>
          </a:xfrm>
          <a:prstGeom prst="rect">
            <a:avLst/>
          </a:prstGeom>
          <a:noFill/>
          <a:ln w="12700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/>
            <a:endParaRPr lang="en-US" sz="800" b="1" dirty="0">
              <a:solidFill>
                <a:srgbClr val="0066CC"/>
              </a:solidFill>
            </a:endParaRPr>
          </a:p>
          <a:p>
            <a:pPr algn="l"/>
            <a:r>
              <a:rPr lang="en-US" dirty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1. </a:t>
            </a:r>
            <a:r>
              <a:rPr dirty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Design</a:t>
            </a:r>
            <a:endParaRPr lang="en-US" dirty="0">
              <a:solidFill>
                <a:srgbClr val="9C3C9A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  <a:p>
            <a:pPr algn="l"/>
            <a:endParaRPr lang="en-US" sz="1600" b="1" dirty="0">
              <a:solidFill>
                <a:srgbClr val="0066CC"/>
              </a:solidFill>
            </a:endParaRP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Ready-to-use templates for integration planning: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Inbound,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Outbound Event-based, Outbound Periodic,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Service-based</a:t>
            </a:r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ADE7F3-86AE-C701-F0EC-BC0AB59576B7}"/>
              </a:ext>
            </a:extLst>
          </p:cNvPr>
          <p:cNvSpPr/>
          <p:nvPr/>
        </p:nvSpPr>
        <p:spPr>
          <a:xfrm>
            <a:off x="6438472" y="1944383"/>
            <a:ext cx="4812585" cy="1633591"/>
          </a:xfrm>
          <a:prstGeom prst="rect">
            <a:avLst/>
          </a:prstGeom>
          <a:noFill/>
          <a:ln w="12700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/>
            <a:endParaRPr lang="en-US" sz="800" b="1" dirty="0">
              <a:solidFill>
                <a:srgbClr val="0066CC"/>
              </a:solidFill>
            </a:endParaRPr>
          </a:p>
          <a:p>
            <a:pPr algn="l"/>
            <a:r>
              <a:rPr lang="en-AU" dirty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2. Load data</a:t>
            </a:r>
          </a:p>
          <a:p>
            <a:pPr algn="l"/>
            <a:endParaRPr lang="en-US" sz="1400" dirty="0">
              <a:solidFill>
                <a:schemeClr val="tx1"/>
              </a:solidFill>
            </a:endParaRP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Connectors for: 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Service Bus, SFTP, Azure File share, Rest API, AI (LLM), Manual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0C847E-FE49-0275-5412-D755A0F898DC}"/>
              </a:ext>
            </a:extLst>
          </p:cNvPr>
          <p:cNvSpPr/>
          <p:nvPr/>
        </p:nvSpPr>
        <p:spPr>
          <a:xfrm>
            <a:off x="949921" y="3863082"/>
            <a:ext cx="4812585" cy="1633591"/>
          </a:xfrm>
          <a:prstGeom prst="rect">
            <a:avLst/>
          </a:prstGeom>
          <a:noFill/>
          <a:ln w="12700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/>
            <a:endParaRPr lang="en-US" sz="800" b="1" dirty="0">
              <a:solidFill>
                <a:srgbClr val="0066CC"/>
              </a:solidFill>
            </a:endParaRPr>
          </a:p>
          <a:p>
            <a:pPr algn="l"/>
            <a:r>
              <a:rPr lang="en-AU" dirty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3. Process data</a:t>
            </a:r>
          </a:p>
          <a:p>
            <a:pPr algn="l"/>
            <a:endParaRPr lang="en-US" sz="1400" dirty="0">
              <a:solidFill>
                <a:schemeClr val="tx1"/>
              </a:solidFill>
            </a:endParaRP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Import documents from: CSV, Excel, XML, JSON &amp; PDF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Sample implementations for: Sales lines, Ledger journals, Purchase lines, Vendors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3EFA88-C5B4-CA19-7AA3-4512206E6FFE}"/>
              </a:ext>
            </a:extLst>
          </p:cNvPr>
          <p:cNvSpPr/>
          <p:nvPr/>
        </p:nvSpPr>
        <p:spPr>
          <a:xfrm>
            <a:off x="6438472" y="3863082"/>
            <a:ext cx="4812585" cy="1633591"/>
          </a:xfrm>
          <a:prstGeom prst="rect">
            <a:avLst/>
          </a:prstGeom>
          <a:noFill/>
          <a:ln w="12700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/>
            <a:endParaRPr lang="en-US" sz="800" b="1" dirty="0">
              <a:solidFill>
                <a:srgbClr val="0066CC"/>
              </a:solidFill>
            </a:endParaRPr>
          </a:p>
          <a:p>
            <a:pPr algn="l"/>
            <a:r>
              <a:rPr lang="en-AU" dirty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4. Test</a:t>
            </a:r>
          </a:p>
          <a:p>
            <a:pPr algn="l"/>
            <a:endParaRPr lang="en-AU" dirty="0">
              <a:solidFill>
                <a:srgbClr val="9C3C9A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Sample template for performance testing up to 1m journal lines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Run any document in manual mode without a connector</a:t>
            </a:r>
          </a:p>
        </p:txBody>
      </p:sp>
    </p:spTree>
    <p:extLst>
      <p:ext uri="{BB962C8B-B14F-4D97-AF65-F5344CB8AC3E}">
        <p14:creationId xmlns:p14="http://schemas.microsoft.com/office/powerpoint/2010/main" val="3720444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AF91B-4587-C636-2AAC-485759A09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82741"/>
            <a:ext cx="3425575" cy="37372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vs. DMF (Data Management Framework)</a:t>
            </a:r>
          </a:p>
          <a:p>
            <a:endParaRPr lang="en-US" sz="800" b="1" dirty="0"/>
          </a:p>
          <a:p>
            <a:r>
              <a:rPr lang="en-US" sz="1800" dirty="0"/>
              <a:t>Support custom transactions</a:t>
            </a:r>
          </a:p>
          <a:p>
            <a:r>
              <a:rPr lang="en-US" sz="1800" dirty="0"/>
              <a:t>Easily link a Document to the Original file </a:t>
            </a:r>
          </a:p>
          <a:p>
            <a:r>
              <a:rPr lang="en-US" sz="1800" dirty="0"/>
              <a:t>Custom Business logic, not linked to data entity</a:t>
            </a:r>
          </a:p>
          <a:p>
            <a:r>
              <a:rPr lang="en-US" sz="1800" dirty="0"/>
              <a:t>Native X++ code - no external dependencies</a:t>
            </a:r>
          </a:p>
          <a:p>
            <a:r>
              <a:rPr lang="en-US" sz="1800" dirty="0"/>
              <a:t>A standard approach to error types and how to handle them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3D4688-AE1B-3813-DB78-0D8439392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Advantages Over Standard Microsoft Tools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96C1DB-7794-8779-74DE-555C1EA19FF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457699" y="1891706"/>
            <a:ext cx="3425575" cy="37372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vs. Business Events</a:t>
            </a:r>
          </a:p>
          <a:p>
            <a:endParaRPr lang="en-US" sz="1800" b="1" dirty="0"/>
          </a:p>
          <a:p>
            <a:r>
              <a:rPr lang="en-AU" sz="1800" dirty="0"/>
              <a:t>Data creation timing: document created at the time of export, not at the time of the event  </a:t>
            </a:r>
          </a:p>
          <a:p>
            <a:r>
              <a:rPr lang="en-US" sz="1800" dirty="0"/>
              <a:t>Event Frequency and Uniqueness: Messages are unique per document and do not duplicated</a:t>
            </a:r>
          </a:p>
          <a:p>
            <a:r>
              <a:rPr lang="en-AU" sz="1800" dirty="0"/>
              <a:t>Response Processing: Can process response</a:t>
            </a:r>
          </a:p>
          <a:p>
            <a:r>
              <a:rPr lang="en-US" sz="1800" dirty="0"/>
              <a:t>Full logs (BE doesn’t support success logs)</a:t>
            </a:r>
          </a:p>
          <a:p>
            <a:endParaRPr lang="en-AU" sz="1800" b="1" dirty="0"/>
          </a:p>
          <a:p>
            <a:endParaRPr lang="en-US" sz="18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24738C-070C-0E8D-AC5B-53686FBB420A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072719" y="1891706"/>
            <a:ext cx="3276600" cy="3923467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vs. Message Processor</a:t>
            </a:r>
          </a:p>
          <a:p>
            <a:pPr marL="0" indent="0">
              <a:lnSpc>
                <a:spcPct val="80000"/>
              </a:lnSpc>
              <a:buNone/>
            </a:pPr>
            <a:endParaRPr lang="en-US" sz="1700" b="1" dirty="0">
              <a:solidFill>
                <a:srgbClr val="9C3C9A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  <a:p>
            <a:pPr>
              <a:lnSpc>
                <a:spcPct val="80000"/>
              </a:lnSpc>
            </a:pPr>
            <a:r>
              <a:rPr lang="en-AU" sz="1900" dirty="0"/>
              <a:t>Enhanced Logging</a:t>
            </a:r>
          </a:p>
          <a:p>
            <a:pPr>
              <a:lnSpc>
                <a:spcPct val="80000"/>
              </a:lnSpc>
            </a:pPr>
            <a:r>
              <a:rPr lang="en-AU" sz="1900" dirty="0"/>
              <a:t>Tracing</a:t>
            </a:r>
          </a:p>
          <a:p>
            <a:pPr>
              <a:lnSpc>
                <a:spcPct val="80000"/>
              </a:lnSpc>
            </a:pPr>
            <a:r>
              <a:rPr lang="en-AU" sz="1900" dirty="0"/>
              <a:t>Manual message processing </a:t>
            </a:r>
          </a:p>
          <a:p>
            <a:pPr>
              <a:lnSpc>
                <a:spcPct val="80000"/>
              </a:lnSpc>
            </a:pPr>
            <a:r>
              <a:rPr lang="en-AU" sz="1900" dirty="0"/>
              <a:t>Can be run in </a:t>
            </a:r>
            <a:r>
              <a:rPr lang="en-AU" sz="1900" dirty="0" err="1"/>
              <a:t>ttsbegin-ttsabort</a:t>
            </a:r>
            <a:r>
              <a:rPr lang="en-AU" sz="1900" dirty="0"/>
              <a:t> block for testing scenario</a:t>
            </a:r>
          </a:p>
          <a:p>
            <a:pPr>
              <a:lnSpc>
                <a:spcPct val="80000"/>
              </a:lnSpc>
            </a:pPr>
            <a:r>
              <a:rPr lang="en-AU" sz="1900" dirty="0"/>
              <a:t>Processing and format flexibility</a:t>
            </a:r>
          </a:p>
          <a:p>
            <a:pPr marL="0" indent="0">
              <a:lnSpc>
                <a:spcPct val="80000"/>
              </a:lnSpc>
              <a:buNone/>
            </a:pPr>
            <a:endParaRPr lang="en-US" sz="1700" b="1" dirty="0">
              <a:solidFill>
                <a:srgbClr val="9C3C9A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028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B8BD2-D3D1-07CB-9CC2-258961E3B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case: Import complex PDF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B55B4-2709-38A1-E8C5-0177E9E7A2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88379"/>
            <a:ext cx="10155149" cy="68016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Possible options:</a:t>
            </a: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B8B19ED3-A8B1-482A-CCAA-C6A3E2831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853" y="2552536"/>
            <a:ext cx="228600" cy="2286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06603F5E-BFED-DBCA-D39C-2D3F2BB61E47}"/>
              </a:ext>
            </a:extLst>
          </p:cNvPr>
          <p:cNvSpPr/>
          <p:nvPr/>
        </p:nvSpPr>
        <p:spPr>
          <a:xfrm>
            <a:off x="1318173" y="2512529"/>
            <a:ext cx="796966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Online PDF to Excel converters</a:t>
            </a:r>
            <a:r>
              <a:rPr lang="en-US" sz="1600" dirty="0">
                <a:solidFill>
                  <a:srgbClr val="030A18"/>
                </a:solidFill>
              </a:rPr>
              <a:t>: can’t handle complex structure</a:t>
            </a: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B68B6F81-673E-DAC2-2466-4ACBE2176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853" y="3076064"/>
            <a:ext cx="228600" cy="22860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82272B72-0F09-0B9D-F234-36C183A2CAE2}"/>
              </a:ext>
            </a:extLst>
          </p:cNvPr>
          <p:cNvSpPr/>
          <p:nvPr/>
        </p:nvSpPr>
        <p:spPr>
          <a:xfrm>
            <a:off x="1318173" y="2969729"/>
            <a:ext cx="7661439" cy="441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Microsoft Invoice capture solution</a:t>
            </a:r>
            <a:r>
              <a:rPr lang="en-US" sz="1600" dirty="0">
                <a:solidFill>
                  <a:srgbClr val="030A18"/>
                </a:solidFill>
              </a:rPr>
              <a:t>: Complex setup(65 pages install guide), based on Microsoft AI Foundry Document Intelligence OCR, can’t handle custom documents   </a:t>
            </a:r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32AE0D8-8B1C-4196-524A-84FFA1193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854" y="3550517"/>
            <a:ext cx="228600" cy="228600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E8A3FD5B-F12E-8C44-6796-3AFCB266E955}"/>
              </a:ext>
            </a:extLst>
          </p:cNvPr>
          <p:cNvSpPr/>
          <p:nvPr/>
        </p:nvSpPr>
        <p:spPr>
          <a:xfrm>
            <a:off x="1318173" y="3550517"/>
            <a:ext cx="9212837" cy="4492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Power App Sales Order Agent</a:t>
            </a:r>
            <a:r>
              <a:rPr lang="en-US" sz="1600" dirty="0">
                <a:solidFill>
                  <a:srgbClr val="030A18"/>
                </a:solidFill>
              </a:rPr>
              <a:t>: A separate Power App that reads the document and creates records via </a:t>
            </a:r>
            <a:r>
              <a:rPr lang="en-US" sz="1600" dirty="0" err="1">
                <a:solidFill>
                  <a:srgbClr val="030A18"/>
                </a:solidFill>
              </a:rPr>
              <a:t>Odata</a:t>
            </a:r>
            <a:r>
              <a:rPr lang="en-US" sz="1600" dirty="0">
                <a:solidFill>
                  <a:srgbClr val="030A18"/>
                </a:solidFill>
              </a:rPr>
              <a:t> calls. Hard to customize with integration involved </a:t>
            </a:r>
            <a:endParaRPr lang="en-US" sz="16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59A06D7-EE85-3564-EF83-4CDFED192607}"/>
              </a:ext>
            </a:extLst>
          </p:cNvPr>
          <p:cNvSpPr/>
          <p:nvPr/>
        </p:nvSpPr>
        <p:spPr>
          <a:xfrm>
            <a:off x="954980" y="4268465"/>
            <a:ext cx="838782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30A18"/>
                </a:solidFill>
              </a:rPr>
              <a:t>External Integration Framework</a:t>
            </a:r>
            <a:endParaRPr lang="en-US" sz="2800" dirty="0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982327BE-C96F-0FAB-70A0-F63423AED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53" y="4761095"/>
            <a:ext cx="228600" cy="228600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7222136E-A1C8-91C1-E45A-D77216167383}"/>
              </a:ext>
            </a:extLst>
          </p:cNvPr>
          <p:cNvSpPr/>
          <p:nvPr/>
        </p:nvSpPr>
        <p:spPr>
          <a:xfrm>
            <a:off x="1318173" y="4761095"/>
            <a:ext cx="838782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30A18"/>
                </a:solidFill>
              </a:rPr>
              <a:t>Native X++ implementation, fully customized solution with custom logic and validations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54146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C91B3F-2B59-10FD-CF43-8530E852341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8200" y="1882740"/>
            <a:ext cx="10515600" cy="3994077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9C3C9A"/>
                </a:solidFill>
              </a:rPr>
              <a:t>Speed</a:t>
            </a:r>
            <a:r>
              <a:rPr lang="en-US" dirty="0">
                <a:solidFill>
                  <a:srgbClr val="9C3C9A"/>
                </a:solidFill>
              </a:rPr>
              <a:t>. </a:t>
            </a:r>
          </a:p>
          <a:p>
            <a:pPr marL="0" indent="0">
              <a:buNone/>
            </a:pPr>
            <a:r>
              <a:rPr lang="en-US" sz="2000" dirty="0"/>
              <a:t>Top models are currently too slow to process documents. Best results achieved with Google Gemini 2.5 Flash, about 2 minutes per 5-page invoice</a:t>
            </a:r>
          </a:p>
          <a:p>
            <a:r>
              <a:rPr lang="en-US" b="1" dirty="0">
                <a:solidFill>
                  <a:srgbClr val="9C3C9A"/>
                </a:solidFill>
              </a:rPr>
              <a:t>Accuracy</a:t>
            </a:r>
          </a:p>
          <a:p>
            <a:pPr marL="0" indent="0">
              <a:buNone/>
            </a:pPr>
            <a:r>
              <a:rPr lang="en-US" sz="2000" dirty="0"/>
              <a:t>Models may work perfectly on small files, but start producing wrong results on large datasets. Very sensitive to prompt structure</a:t>
            </a:r>
          </a:p>
          <a:p>
            <a:r>
              <a:rPr lang="en-US" b="1" dirty="0">
                <a:solidFill>
                  <a:srgbClr val="9C3C9A"/>
                </a:solidFill>
              </a:rPr>
              <a:t>Results Validation</a:t>
            </a:r>
          </a:p>
          <a:p>
            <a:pPr marL="0" indent="0">
              <a:buNone/>
            </a:pPr>
            <a:r>
              <a:rPr lang="en-US" sz="2000" dirty="0"/>
              <a:t>Need to build automatic result validation from the start</a:t>
            </a:r>
          </a:p>
          <a:p>
            <a:r>
              <a:rPr lang="en-US" b="1" dirty="0">
                <a:solidFill>
                  <a:srgbClr val="9C3C9A"/>
                </a:solidFill>
              </a:rPr>
              <a:t>Price</a:t>
            </a:r>
          </a:p>
          <a:p>
            <a:pPr marL="0" indent="0">
              <a:buNone/>
            </a:pPr>
            <a:r>
              <a:rPr lang="en-US" sz="2000" dirty="0"/>
              <a:t>5-page document is about 10k-15k tokens, so ~1 cent per document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4C507B1-59E6-EBB4-785B-B7C44D4ED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usage challenges</a:t>
            </a:r>
          </a:p>
        </p:txBody>
      </p:sp>
    </p:spTree>
    <p:extLst>
      <p:ext uri="{BB962C8B-B14F-4D97-AF65-F5344CB8AC3E}">
        <p14:creationId xmlns:p14="http://schemas.microsoft.com/office/powerpoint/2010/main" val="2469392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9ED09-45B8-A2F9-6DD5-EE9A02F3C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Processing Workflow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E96EF4-975E-72A7-3839-7522ED619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511" y="1814935"/>
            <a:ext cx="9166470" cy="441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006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C04A1-1C5B-C29B-0F79-21C3D233F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55E22-CAB0-435E-26C7-711704AA3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1.Define a connection and a key 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CF38E9-C2E7-2D7D-3D8A-25567D9E6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261" y="1676600"/>
            <a:ext cx="5874811" cy="3719364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550B7D-B68E-2F05-8D27-E0A634D90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28" y="1779361"/>
            <a:ext cx="5172627" cy="351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4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E2834-4025-7F08-6127-9D503FC0A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8401E-4B1B-D1A5-D9D8-2FDB4C1C0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2.Define and test a prompt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592856-BD75-F205-FDC5-E3387974D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4237"/>
            <a:ext cx="5753519" cy="48289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E16DD8-7E1C-7458-1A80-F6E74522E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254" y="1943046"/>
            <a:ext cx="2732501" cy="402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56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01D50-DEB3-3CC5-CE83-FA9AED5DF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8B644-B914-18D5-3383-68E98F605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3.Load files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268B3C-B7B7-1F27-D01F-08DFFA0F3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654" y="2025261"/>
            <a:ext cx="7070443" cy="2807477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33698B1-3CED-E49C-514F-E2842A849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4" y="1574808"/>
            <a:ext cx="6953221" cy="370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920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2E546-9D52-AD1A-7215-8EAFF0473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D66A2-C2BA-FA6B-6756-F0D3AA2E5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4.Validate and process results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45D879-38A0-63A7-0B01-C232B9E91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8352"/>
            <a:ext cx="6741160" cy="4561143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BBACF7-EF67-677B-8AEC-13186636D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360" y="2615017"/>
            <a:ext cx="4128935" cy="226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13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A37E68-3E9B-E61A-44FB-EAC72EA3CFF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8200" y="3729518"/>
            <a:ext cx="10515600" cy="26610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Let’s connect: </a:t>
            </a:r>
          </a:p>
          <a:p>
            <a:pPr marL="0" indent="0">
              <a:buNone/>
            </a:pPr>
            <a:r>
              <a:rPr lang="en-US" sz="2000" b="1" dirty="0"/>
              <a:t>LinkedIn: </a:t>
            </a:r>
            <a:r>
              <a:rPr lang="en-US" sz="2000" dirty="0"/>
              <a:t>Denis Trunin </a:t>
            </a:r>
            <a:r>
              <a:rPr lang="en-US" sz="2000" dirty="0">
                <a:hlinkClick r:id="rId2"/>
              </a:rPr>
              <a:t>https://www.linkedin.com/in/denis-trunin-3b73a213/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b="1" dirty="0"/>
              <a:t>Blog: </a:t>
            </a:r>
            <a:r>
              <a:rPr lang="en-US" sz="2000" dirty="0">
                <a:hlinkClick r:id="rId3"/>
              </a:rPr>
              <a:t>https://denistrunin.com/integration-importpurchpdf/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b="1" dirty="0"/>
              <a:t>GitHub: </a:t>
            </a:r>
            <a:r>
              <a:rPr lang="en-US" sz="2000" dirty="0">
                <a:hlinkClick r:id="rId4"/>
              </a:rPr>
              <a:t>https://github.com/TrudAX/XppTools/tree/master?tab=readme-ov-file#devexternalintegration-submodel</a:t>
            </a:r>
            <a:r>
              <a:rPr lang="en-US" sz="2000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C00AFF-F400-2533-200D-CF9B44380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6666"/>
            <a:ext cx="10515600" cy="1566808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610864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697ee21-6294-4ec0-a023-ecdc12fb217d" xsi:nil="true"/>
    <lcf76f155ced4ddcb4097134ff3c332f xmlns="11dd3a3b-9603-41fd-b81c-c1187686513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93DCFD68B6564B8CAC449AA517FD5F" ma:contentTypeVersion="18" ma:contentTypeDescription="Create a new document." ma:contentTypeScope="" ma:versionID="5db0653e7be4eec80c4641c8137205d6">
  <xsd:schema xmlns:xsd="http://www.w3.org/2001/XMLSchema" xmlns:xs="http://www.w3.org/2001/XMLSchema" xmlns:p="http://schemas.microsoft.com/office/2006/metadata/properties" xmlns:ns2="11dd3a3b-9603-41fd-b81c-c11876865134" xmlns:ns3="1697ee21-6294-4ec0-a023-ecdc12fb217d" targetNamespace="http://schemas.microsoft.com/office/2006/metadata/properties" ma:root="true" ma:fieldsID="ee8164ffdc44ff411682d5927f175a59" ns2:_="" ns3:_="">
    <xsd:import namespace="11dd3a3b-9603-41fd-b81c-c11876865134"/>
    <xsd:import namespace="1697ee21-6294-4ec0-a023-ecdc12fb21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dd3a3b-9603-41fd-b81c-c118768651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37c3b37-2320-48ce-b319-ec387555f3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97ee21-6294-4ec0-a023-ecdc12fb217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adf3bbfb-2c47-42c1-b95a-4fc3f6e518d3}" ma:internalName="TaxCatchAll" ma:showField="CatchAllData" ma:web="1697ee21-6294-4ec0-a023-ecdc12fb21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5D6101-9C87-4C6A-87E1-7531206C2346}">
  <ds:schemaRefs>
    <ds:schemaRef ds:uri="11dd3a3b-9603-41fd-b81c-c11876865134"/>
    <ds:schemaRef ds:uri="1697ee21-6294-4ec0-a023-ecdc12fb217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861CA99-CA43-4804-BE99-F896EBC75F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29E66C-7076-4B86-9F71-4246B4F8B8C3}">
  <ds:schemaRefs>
    <ds:schemaRef ds:uri="11dd3a3b-9603-41fd-b81c-c11876865134"/>
    <ds:schemaRef ds:uri="1697ee21-6294-4ec0-a023-ecdc12fb21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502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Open Sans ExtraBold</vt:lpstr>
      <vt:lpstr>Open Sans SemiBold</vt:lpstr>
      <vt:lpstr>Office Theme</vt:lpstr>
      <vt:lpstr>Import Data from PDF to D365FO using AI</vt:lpstr>
      <vt:lpstr>External Integration module  Standardized approach for X++ based integrations Free open-source framework to simplify integration development and support</vt:lpstr>
      <vt:lpstr>Advantages Over Standard Microsoft Tools</vt:lpstr>
      <vt:lpstr>Use case: Import complex PDF</vt:lpstr>
      <vt:lpstr>AI usage challenges</vt:lpstr>
      <vt:lpstr>AI Processing Workflow</vt:lpstr>
      <vt:lpstr>1.Define a connection and a key </vt:lpstr>
      <vt:lpstr>2.Define and test a prompt</vt:lpstr>
      <vt:lpstr>3.Load files</vt:lpstr>
      <vt:lpstr>4.Validate and process results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 Bishop</dc:creator>
  <cp:lastModifiedBy>Denis Trunin</cp:lastModifiedBy>
  <cp:revision>26</cp:revision>
  <dcterms:created xsi:type="dcterms:W3CDTF">2023-09-20T16:06:20Z</dcterms:created>
  <dcterms:modified xsi:type="dcterms:W3CDTF">2025-11-03T15:54:11Z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0x0101008893DCFD68B6564B8CAC449AA517FD5F</vt:lpwstr>
  </property>
  <property fmtid="{D5CDD505-2E9C-101B-9397-08002B2CF9AE}" pid="3" name="MediaServiceImageTags">
    <vt:lpwstr/>
  </property>
</Properties>
</file>