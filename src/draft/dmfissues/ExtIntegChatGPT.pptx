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7" d="100"/>
          <a:sy n="157" d="100"/>
        </p:scale>
        <p:origin x="138"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Load Time (min)</c:v>
                </c:pt>
              </c:strCache>
            </c:strRef>
          </c:tx>
          <c:spPr>
            <a:solidFill>
              <a:srgbClr val="2E76BC"/>
            </a:solidFill>
            <a:effectLst/>
          </c:spPr>
          <c:invertIfNegative val="0"/>
          <c:cat>
            <c:strRef>
              <c:f>Sheet1!$A$2:$A$3</c:f>
              <c:strCache>
                <c:ptCount val="2"/>
                <c:pt idx="0">
                  <c:v>D8 Standard</c:v>
                </c:pt>
                <c:pt idx="1">
                  <c:v>D16s</c:v>
                </c:pt>
              </c:strCache>
            </c:strRef>
          </c:cat>
          <c:val>
            <c:numRef>
              <c:f>Sheet1!$B$2:$B$3</c:f>
              <c:numCache>
                <c:formatCode>General</c:formatCode>
                <c:ptCount val="2"/>
                <c:pt idx="0">
                  <c:v>280</c:v>
                </c:pt>
                <c:pt idx="1">
                  <c:v>186</c:v>
                </c:pt>
              </c:numCache>
            </c:numRef>
          </c:val>
          <c:extLst>
            <c:ext xmlns:c16="http://schemas.microsoft.com/office/drawing/2014/chart" uri="{C3380CC4-5D6E-409C-BE32-E72D297353CC}">
              <c16:uniqueId val="{00000000-7364-4E94-B992-B1DA51BBECF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3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55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enistrunin.com/integration-checklist/#:~:text=,Security"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https://denistrunin.com/xpptools-integfilesharexmlpurch/#:~:text=In%20the%20series%20of%20posts,file%20formats%20used%20for%20import"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denistrunin.com/integration-outboundweb/#:~:text=Planning%20and%20Scoping%20Integration%20Project" TargetMode="External"/><Relationship Id="rId3" Type="http://schemas.openxmlformats.org/officeDocument/2006/relationships/image" Target="../media/image6.png"/><Relationship Id="rId7" Type="http://schemas.openxmlformats.org/officeDocument/2006/relationships/hyperlink" Target="https://denistrunin.com/integration-inboundwebsales/#:~:text=High"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hyperlink" Target="https://denistrunin.com/xpptools-integservbussalesjson/#:~:text=Incoming%20messages%20form" TargetMode="External"/><Relationship Id="rId4" Type="http://schemas.openxmlformats.org/officeDocument/2006/relationships/image" Target="../media/image7.png"/><Relationship Id="rId9" Type="http://schemas.openxmlformats.org/officeDocument/2006/relationships/hyperlink" Target="https://denistrunin.com/integration-outboundsftp/#:~:text=System%20Setup"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s://denistrunin.com/xpptools-integfilesharexmlpurch/#:~:text=In%20the%20series%20of%20posts,file%20formats%20used%20for%20import" TargetMode="External"/><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8.png"/><Relationship Id="rId2" Type="http://schemas.openxmlformats.org/officeDocument/2006/relationships/notesSlide" Target="../notesSlides/notesSlide3.xml"/><Relationship Id="rId16" Type="http://schemas.openxmlformats.org/officeDocument/2006/relationships/hyperlink" Target="https://denistrunin.com/integration-importpurchpdf/#:~:text=You%20are%20an%20expert%20at,The" TargetMode="Externa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5" Type="http://schemas.openxmlformats.org/officeDocument/2006/relationships/hyperlink" Target="https://denistrunin.com/integration-outboundsftp/#:~:text=X%2B%2B%20Export%20Implementation%20concept" TargetMode="External"/><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hyperlink" Target="https://denistrunin.com/xpptools-readexcelfile/#:~:text=File%20reading%20engines"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denistrunin.com/xpptools-integfilesharexmlpurch/#:~:text=The%20class%20reads%20the%20message,just%20directly%20writing%20to%20tables" TargetMode="External"/><Relationship Id="rId3" Type="http://schemas.openxmlformats.org/officeDocument/2006/relationships/image" Target="../media/image19.png"/><Relationship Id="rId7" Type="http://schemas.openxmlformats.org/officeDocument/2006/relationships/hyperlink" Target="https://denistrunin.com/xpptools-fileintegledger/#:~:text=for%20the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denistrunin.com/xpptools-integservbussalesjson/#:~:text=DMF%20integration" TargetMode="External"/><Relationship Id="rId5" Type="http://schemas.openxmlformats.org/officeDocument/2006/relationships/hyperlink" Target="https://denistrunin.com/xpptools-fileintegledgerperf/#:~:text=I%20used%20a%20standard%20cloud,test%20on%202%20VM%20sizes" TargetMode="Externa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hyperlink" Target="https://denistrunin.com/integration-outboundweb/#:~:text=Planning%20and%20Scoping%20Integration%20Project" TargetMode="External"/><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hyperlink" Target="https://denistrunin.com/xpptools-fileintegledgerperf/#:~:text=I%20used%20a%20standard%20cloud,test%20on%202%20VM%20sizes" TargetMode="External"/><Relationship Id="rId4" Type="http://schemas.openxmlformats.org/officeDocument/2006/relationships/image" Target="../media/image22.png"/><Relationship Id="rId9" Type="http://schemas.openxmlformats.org/officeDocument/2006/relationships/hyperlink" Target="https://denistrunin.com/integration-checklist/#:~:text=Keys%20to%20the%20successful%20integration"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denistrunin.com/xpptools-integservbussalesjson/#:~:text=Incoming%20messages%20form" TargetMode="External"/><Relationship Id="rId3" Type="http://schemas.openxmlformats.org/officeDocument/2006/relationships/hyperlink" Target="https://denistrunin.com/integration-inboundwebsales/#:~:text=High" TargetMode="External"/><Relationship Id="rId7" Type="http://schemas.openxmlformats.org/officeDocument/2006/relationships/hyperlink" Target="https://denistrunin.com/integration-outboundsftp/#:~:text=System%20Setup"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denistrunin.com/integration-outboundweb/#:~:text=Implementing%20the%20Export%20Functionality" TargetMode="External"/><Relationship Id="rId5" Type="http://schemas.openxmlformats.org/officeDocument/2006/relationships/hyperlink" Target="https://denistrunin.com/xpptools-fileintegledger/#:~:text=,CSV" TargetMode="External"/><Relationship Id="rId4" Type="http://schemas.openxmlformats.org/officeDocument/2006/relationships/hyperlink" Target="https://denistrunin.com/xpptools-integfilesharexmlpurch/#:~:text=Connection%20types%20form" TargetMode="External"/><Relationship Id="rId9" Type="http://schemas.openxmlformats.org/officeDocument/2006/relationships/hyperlink" Target="https://denistrunin.com/integration-importpurchpdf/#:~:text=The%20main%20components%20are%3A" TargetMode="Externa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denistrunin.com/xpptools-fileintegledgerperf/#:~:text=I%20used%20a%20standard%20cloud,test%20on%202%20VM%20size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denistrunin.com/integration-importpurchpdf/#:~:text=The%20main%20components%20are%3A" TargetMode="External"/><Relationship Id="rId4" Type="http://schemas.openxmlformats.org/officeDocument/2006/relationships/hyperlink" Target="https://denistrunin.com/integration-importpurchpdf/#:~:text=You%20are%20an%20expert%20at,The"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denistrunin.com/xpptools-fileintegledger/#:~:text=for%20them" TargetMode="External"/><Relationship Id="rId5" Type="http://schemas.openxmlformats.org/officeDocument/2006/relationships/hyperlink" Target="https://denistrunin.com/xpptools-integfilesharexmlpurch/#:~:text=The%20class%20reads%20the%20message,just%20directly%20writing%20to%20tables" TargetMode="External"/><Relationship Id="rId4" Type="http://schemas.openxmlformats.org/officeDocument/2006/relationships/hyperlink" Target="https://denistrunin.com/xpptools-integfilesharexmlpurch/#:~:text=Connection%20types%20for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hyperlink" Target="https://denistrunin.com/integration-outboundweb/#:~:text=Implementing%20the%20Export%20Functionality" TargetMode="External"/><Relationship Id="rId4" Type="http://schemas.openxmlformats.org/officeDocument/2006/relationships/hyperlink" Target="https://denistrunin.com/integration-outboundweb/#:~:text=Planning%20and%20Scoping%20Integration%20Projec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denistrunin.com/xpptools-integservbussalesjson/#:~:text=Incoming%20messages%20form" TargetMode="External"/><Relationship Id="rId4" Type="http://schemas.openxmlformats.org/officeDocument/2006/relationships/hyperlink" Target="https://denistrunin.com/xpptools-integfilesharexmlpurch/#:~:text=I%20provided%20a%20sample%20implementation,and%20provide%20some%20additional%20logg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1097280"/>
            <a:ext cx="4754880" cy="1463040"/>
          </a:xfrm>
          <a:prstGeom prst="rect">
            <a:avLst/>
          </a:prstGeom>
          <a:noFill/>
          <a:ln/>
        </p:spPr>
        <p:txBody>
          <a:bodyPr wrap="square" rtlCol="0" anchor="ctr"/>
          <a:lstStyle/>
          <a:p>
            <a:pPr marL="0" indent="0" algn="l">
              <a:buNone/>
            </a:pPr>
            <a:r>
              <a:rPr lang="en-US" sz="3200" b="1" dirty="0">
                <a:solidFill>
                  <a:srgbClr val="030A18"/>
                </a:solidFill>
              </a:rPr>
              <a:t>External Integration Framework</a:t>
            </a:r>
            <a:endParaRPr lang="en-US" sz="3200" dirty="0"/>
          </a:p>
          <a:p>
            <a:pPr marL="0" indent="0" algn="l">
              <a:buNone/>
            </a:pPr>
            <a:r>
              <a:rPr lang="en-US" sz="1600" i="1" dirty="0">
                <a:solidFill>
                  <a:srgbClr val="2E76BC"/>
                </a:solidFill>
              </a:rPr>
              <a:t>Dynamics 365 Finance &amp; Operations</a:t>
            </a:r>
            <a:endParaRPr lang="en-US" sz="3200" dirty="0"/>
          </a:p>
          <a:p>
            <a:pPr marL="0" indent="0" algn="l">
              <a:buNone/>
            </a:pPr>
            <a:endParaRPr lang="en-US" sz="3200" dirty="0"/>
          </a:p>
          <a:p>
            <a:pPr marL="0" indent="0" algn="l">
              <a:buNone/>
            </a:pPr>
            <a:r>
              <a:rPr lang="en-US" sz="1400" dirty="0">
                <a:solidFill>
                  <a:srgbClr val="030A18"/>
                </a:solidFill>
              </a:rPr>
              <a:t>Module Overview</a:t>
            </a:r>
            <a:endParaRPr lang="en-US" sz="3200" dirty="0"/>
          </a:p>
        </p:txBody>
      </p:sp>
      <p:pic>
        <p:nvPicPr>
          <p:cNvPr id="3" name="Image 0" descr="preencoded.png"/>
          <p:cNvPicPr>
            <a:picLocks noChangeAspect="1"/>
          </p:cNvPicPr>
          <p:nvPr/>
        </p:nvPicPr>
        <p:blipFill>
          <a:blip r:embed="rId3"/>
          <a:stretch>
            <a:fillRect/>
          </a:stretch>
        </p:blipFill>
        <p:spPr>
          <a:xfrm>
            <a:off x="5486400" y="548640"/>
            <a:ext cx="3291840" cy="3291840"/>
          </a:xfrm>
          <a:prstGeom prst="rect">
            <a:avLst/>
          </a:prstGeom>
        </p:spPr>
      </p:pic>
      <p:pic>
        <p:nvPicPr>
          <p:cNvPr id="4" name="Image 1" descr="preencoded.png"/>
          <p:cNvPicPr>
            <a:picLocks noChangeAspect="1"/>
          </p:cNvPicPr>
          <p:nvPr/>
        </p:nvPicPr>
        <p:blipFill>
          <a:blip r:embed="rId4"/>
          <a:stretch>
            <a:fillRect/>
          </a:stretch>
        </p:blipFill>
        <p:spPr>
          <a:xfrm>
            <a:off x="457200" y="4096512"/>
            <a:ext cx="274320" cy="274320"/>
          </a:xfrm>
          <a:prstGeom prst="rect">
            <a:avLst/>
          </a:prstGeom>
        </p:spPr>
      </p:pic>
      <p:sp>
        <p:nvSpPr>
          <p:cNvPr id="5" name="Text 1"/>
          <p:cNvSpPr/>
          <p:nvPr/>
        </p:nvSpPr>
        <p:spPr>
          <a:xfrm>
            <a:off x="822960" y="4087368"/>
            <a:ext cx="1554480" cy="365760"/>
          </a:xfrm>
          <a:prstGeom prst="rect">
            <a:avLst/>
          </a:prstGeom>
          <a:noFill/>
          <a:ln/>
        </p:spPr>
        <p:txBody>
          <a:bodyPr wrap="square" rtlCol="0" anchor="ctr"/>
          <a:lstStyle/>
          <a:p>
            <a:pPr marL="0" indent="0" algn="l">
              <a:buNone/>
            </a:pPr>
            <a:r>
              <a:rPr lang="en-US" sz="1000" dirty="0">
                <a:solidFill>
                  <a:srgbClr val="030A18"/>
                </a:solidFill>
              </a:rPr>
              <a:t>Design</a:t>
            </a:r>
            <a:endParaRPr lang="en-US" sz="1000" dirty="0"/>
          </a:p>
        </p:txBody>
      </p:sp>
      <p:pic>
        <p:nvPicPr>
          <p:cNvPr id="6" name="Image 2" descr="preencoded.png"/>
          <p:cNvPicPr>
            <a:picLocks noChangeAspect="1"/>
          </p:cNvPicPr>
          <p:nvPr/>
        </p:nvPicPr>
        <p:blipFill>
          <a:blip r:embed="rId5"/>
          <a:stretch>
            <a:fillRect/>
          </a:stretch>
        </p:blipFill>
        <p:spPr>
          <a:xfrm>
            <a:off x="2468880" y="4096512"/>
            <a:ext cx="274320" cy="274320"/>
          </a:xfrm>
          <a:prstGeom prst="rect">
            <a:avLst/>
          </a:prstGeom>
        </p:spPr>
      </p:pic>
      <p:sp>
        <p:nvSpPr>
          <p:cNvPr id="7" name="Text 2"/>
          <p:cNvSpPr/>
          <p:nvPr/>
        </p:nvSpPr>
        <p:spPr>
          <a:xfrm>
            <a:off x="2834640" y="4087368"/>
            <a:ext cx="1554480" cy="365760"/>
          </a:xfrm>
          <a:prstGeom prst="rect">
            <a:avLst/>
          </a:prstGeom>
          <a:noFill/>
          <a:ln/>
        </p:spPr>
        <p:txBody>
          <a:bodyPr wrap="square" rtlCol="0" anchor="ctr"/>
          <a:lstStyle/>
          <a:p>
            <a:pPr marL="0" indent="0" algn="l">
              <a:buNone/>
            </a:pPr>
            <a:r>
              <a:rPr lang="en-US" sz="1000" dirty="0">
                <a:solidFill>
                  <a:srgbClr val="030A18"/>
                </a:solidFill>
              </a:rPr>
              <a:t>Requirements</a:t>
            </a:r>
            <a:endParaRPr lang="en-US" sz="1000" dirty="0"/>
          </a:p>
        </p:txBody>
      </p:sp>
      <p:pic>
        <p:nvPicPr>
          <p:cNvPr id="8" name="Image 3" descr="preencoded.png"/>
          <p:cNvPicPr>
            <a:picLocks noChangeAspect="1"/>
          </p:cNvPicPr>
          <p:nvPr/>
        </p:nvPicPr>
        <p:blipFill>
          <a:blip r:embed="rId6"/>
          <a:stretch>
            <a:fillRect/>
          </a:stretch>
        </p:blipFill>
        <p:spPr>
          <a:xfrm>
            <a:off x="4480560" y="4096512"/>
            <a:ext cx="274320" cy="274320"/>
          </a:xfrm>
          <a:prstGeom prst="rect">
            <a:avLst/>
          </a:prstGeom>
        </p:spPr>
      </p:pic>
      <p:sp>
        <p:nvSpPr>
          <p:cNvPr id="9" name="Text 3"/>
          <p:cNvSpPr/>
          <p:nvPr/>
        </p:nvSpPr>
        <p:spPr>
          <a:xfrm>
            <a:off x="4846320" y="4087368"/>
            <a:ext cx="1554480" cy="365760"/>
          </a:xfrm>
          <a:prstGeom prst="rect">
            <a:avLst/>
          </a:prstGeom>
          <a:noFill/>
          <a:ln/>
        </p:spPr>
        <p:txBody>
          <a:bodyPr wrap="square" rtlCol="0" anchor="ctr"/>
          <a:lstStyle/>
          <a:p>
            <a:pPr marL="0" indent="0" algn="l">
              <a:buNone/>
            </a:pPr>
            <a:r>
              <a:rPr lang="en-US" sz="1000" dirty="0">
                <a:solidFill>
                  <a:srgbClr val="030A18"/>
                </a:solidFill>
              </a:rPr>
              <a:t>Sample</a:t>
            </a:r>
            <a:endParaRPr lang="en-US" sz="1000" dirty="0"/>
          </a:p>
          <a:p>
            <a:pPr marL="0" indent="0" algn="l">
              <a:buNone/>
            </a:pPr>
            <a:r>
              <a:rPr lang="en-US" sz="1000" dirty="0">
                <a:solidFill>
                  <a:srgbClr val="030A18"/>
                </a:solidFill>
              </a:rPr>
              <a:t>Integrations</a:t>
            </a:r>
            <a:endParaRPr lang="en-US" sz="1000" dirty="0"/>
          </a:p>
        </p:txBody>
      </p:sp>
      <p:pic>
        <p:nvPicPr>
          <p:cNvPr id="10" name="Image 4" descr="preencoded.png"/>
          <p:cNvPicPr>
            <a:picLocks noChangeAspect="1"/>
          </p:cNvPicPr>
          <p:nvPr/>
        </p:nvPicPr>
        <p:blipFill>
          <a:blip r:embed="rId7"/>
          <a:stretch>
            <a:fillRect/>
          </a:stretch>
        </p:blipFill>
        <p:spPr>
          <a:xfrm>
            <a:off x="6492240" y="4096512"/>
            <a:ext cx="274320" cy="274320"/>
          </a:xfrm>
          <a:prstGeom prst="rect">
            <a:avLst/>
          </a:prstGeom>
        </p:spPr>
      </p:pic>
      <p:sp>
        <p:nvSpPr>
          <p:cNvPr id="11" name="Text 4"/>
          <p:cNvSpPr/>
          <p:nvPr/>
        </p:nvSpPr>
        <p:spPr>
          <a:xfrm>
            <a:off x="6858000" y="4087368"/>
            <a:ext cx="1554480" cy="365760"/>
          </a:xfrm>
          <a:prstGeom prst="rect">
            <a:avLst/>
          </a:prstGeom>
          <a:noFill/>
          <a:ln/>
        </p:spPr>
        <p:txBody>
          <a:bodyPr wrap="square" rtlCol="0" anchor="ctr"/>
          <a:lstStyle/>
          <a:p>
            <a:pPr marL="0" indent="0" algn="l">
              <a:buNone/>
            </a:pPr>
            <a:r>
              <a:rPr lang="en-US" sz="1000" dirty="0">
                <a:solidFill>
                  <a:srgbClr val="030A18"/>
                </a:solidFill>
              </a:rPr>
              <a:t>Performance</a:t>
            </a:r>
            <a:endParaRPr lang="en-US" sz="1000" dirty="0"/>
          </a:p>
        </p:txBody>
      </p:sp>
      <p:sp>
        <p:nvSpPr>
          <p:cNvPr id="12" name="Text 5"/>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8"/>
              </a:rPr>
              <a:t>[1]</a:t>
            </a:r>
            <a:r>
              <a:rPr lang="en-US" sz="600" dirty="0">
                <a:solidFill>
                  <a:srgbClr val="000000"/>
                </a:solidFill>
              </a:rPr>
              <a:t>  </a:t>
            </a:r>
            <a:r>
              <a:rPr lang="en-US" sz="600" u="sng" dirty="0">
                <a:solidFill>
                  <a:srgbClr val="2E76BC"/>
                </a:solidFill>
                <a:hlinkClick r:id="rId9"/>
              </a:rPr>
              <a:t>[2]</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5943600" cy="548640"/>
          </a:xfrm>
          <a:prstGeom prst="rect">
            <a:avLst/>
          </a:prstGeom>
          <a:noFill/>
          <a:ln/>
        </p:spPr>
        <p:txBody>
          <a:bodyPr wrap="square" rtlCol="0" anchor="ctr"/>
          <a:lstStyle/>
          <a:p>
            <a:pPr marL="0" indent="0">
              <a:buNone/>
            </a:pPr>
            <a:r>
              <a:rPr lang="en-US" sz="2400" b="1" dirty="0">
                <a:solidFill>
                  <a:srgbClr val="030A18"/>
                </a:solidFill>
              </a:rPr>
              <a:t>Supported Integration Types</a:t>
            </a:r>
            <a:endParaRPr lang="en-US" sz="2400" dirty="0"/>
          </a:p>
        </p:txBody>
      </p:sp>
      <p:sp>
        <p:nvSpPr>
          <p:cNvPr id="3" name="Shape 1"/>
          <p:cNvSpPr/>
          <p:nvPr/>
        </p:nvSpPr>
        <p:spPr>
          <a:xfrm>
            <a:off x="365760" y="1188720"/>
            <a:ext cx="4023360" cy="1143000"/>
          </a:xfrm>
          <a:prstGeom prst="roundRect">
            <a:avLst>
              <a:gd name="adj" fmla="val 4000"/>
            </a:avLst>
          </a:prstGeom>
          <a:solidFill>
            <a:srgbClr val="E8F1FA"/>
          </a:solidFill>
          <a:ln w="12700">
            <a:solidFill>
              <a:srgbClr val="E8F1FA"/>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502920" y="1325880"/>
            <a:ext cx="274320" cy="274320"/>
          </a:xfrm>
          <a:prstGeom prst="rect">
            <a:avLst/>
          </a:prstGeom>
        </p:spPr>
      </p:pic>
      <p:sp>
        <p:nvSpPr>
          <p:cNvPr id="5" name="Text 2"/>
          <p:cNvSpPr/>
          <p:nvPr/>
        </p:nvSpPr>
        <p:spPr>
          <a:xfrm>
            <a:off x="822960" y="1298448"/>
            <a:ext cx="3566160" cy="274320"/>
          </a:xfrm>
          <a:prstGeom prst="rect">
            <a:avLst/>
          </a:prstGeom>
          <a:noFill/>
          <a:ln/>
        </p:spPr>
        <p:txBody>
          <a:bodyPr wrap="square" rtlCol="0" anchor="ctr"/>
          <a:lstStyle/>
          <a:p>
            <a:pPr marL="0" indent="0">
              <a:buNone/>
            </a:pPr>
            <a:r>
              <a:rPr lang="en-US" sz="1400" b="1" dirty="0">
                <a:solidFill>
                  <a:srgbClr val="030A18"/>
                </a:solidFill>
              </a:rPr>
              <a:t>Inbound</a:t>
            </a:r>
            <a:endParaRPr lang="en-US" sz="1400" dirty="0"/>
          </a:p>
        </p:txBody>
      </p:sp>
      <p:sp>
        <p:nvSpPr>
          <p:cNvPr id="6" name="Text 3"/>
          <p:cNvSpPr/>
          <p:nvPr/>
        </p:nvSpPr>
        <p:spPr>
          <a:xfrm>
            <a:off x="502920" y="1600200"/>
            <a:ext cx="3931920" cy="731520"/>
          </a:xfrm>
          <a:prstGeom prst="rect">
            <a:avLst/>
          </a:prstGeom>
          <a:noFill/>
          <a:ln/>
        </p:spPr>
        <p:txBody>
          <a:bodyPr wrap="square" rtlCol="0" anchor="ctr"/>
          <a:lstStyle/>
          <a:p>
            <a:pPr marL="0" indent="0">
              <a:buNone/>
            </a:pPr>
            <a:r>
              <a:rPr lang="en-US" sz="1000" dirty="0">
                <a:solidFill>
                  <a:srgbClr val="030A18"/>
                </a:solidFill>
              </a:rPr>
              <a:t>Import data from external systems into D365FO. Supports complex documents like sales orders, purchase orders and ledger journals.</a:t>
            </a:r>
            <a:endParaRPr lang="en-US" sz="1000" dirty="0"/>
          </a:p>
        </p:txBody>
      </p:sp>
      <p:sp>
        <p:nvSpPr>
          <p:cNvPr id="7" name="Shape 4"/>
          <p:cNvSpPr/>
          <p:nvPr/>
        </p:nvSpPr>
        <p:spPr>
          <a:xfrm>
            <a:off x="4572000" y="1188720"/>
            <a:ext cx="4023360" cy="1143000"/>
          </a:xfrm>
          <a:prstGeom prst="roundRect">
            <a:avLst>
              <a:gd name="adj" fmla="val 4000"/>
            </a:avLst>
          </a:prstGeom>
          <a:solidFill>
            <a:srgbClr val="F5EFEF"/>
          </a:solidFill>
          <a:ln w="12700">
            <a:solidFill>
              <a:srgbClr val="F5EFEF"/>
            </a:solidFill>
            <a:prstDash val="solid"/>
          </a:ln>
        </p:spPr>
        <p:txBody>
          <a:bodyPr/>
          <a:lstStyle/>
          <a:p>
            <a:endParaRPr/>
          </a:p>
        </p:txBody>
      </p:sp>
      <p:pic>
        <p:nvPicPr>
          <p:cNvPr id="8" name="Image 1" descr="preencoded.png"/>
          <p:cNvPicPr>
            <a:picLocks noChangeAspect="1"/>
          </p:cNvPicPr>
          <p:nvPr/>
        </p:nvPicPr>
        <p:blipFill>
          <a:blip r:embed="rId4"/>
          <a:stretch>
            <a:fillRect/>
          </a:stretch>
        </p:blipFill>
        <p:spPr>
          <a:xfrm>
            <a:off x="4709160" y="1325880"/>
            <a:ext cx="274320" cy="274320"/>
          </a:xfrm>
          <a:prstGeom prst="rect">
            <a:avLst/>
          </a:prstGeom>
        </p:spPr>
      </p:pic>
      <p:sp>
        <p:nvSpPr>
          <p:cNvPr id="9" name="Text 5"/>
          <p:cNvSpPr/>
          <p:nvPr/>
        </p:nvSpPr>
        <p:spPr>
          <a:xfrm>
            <a:off x="5029200" y="1298448"/>
            <a:ext cx="3566160" cy="274320"/>
          </a:xfrm>
          <a:prstGeom prst="rect">
            <a:avLst/>
          </a:prstGeom>
          <a:noFill/>
          <a:ln/>
        </p:spPr>
        <p:txBody>
          <a:bodyPr wrap="square" rtlCol="0" anchor="ctr"/>
          <a:lstStyle/>
          <a:p>
            <a:pPr marL="0" indent="0">
              <a:buNone/>
            </a:pPr>
            <a:r>
              <a:rPr lang="en-US" sz="1400" b="1" dirty="0">
                <a:solidFill>
                  <a:srgbClr val="030A18"/>
                </a:solidFill>
              </a:rPr>
              <a:t>Event‑Based Export</a:t>
            </a:r>
            <a:endParaRPr lang="en-US" sz="1400" dirty="0"/>
          </a:p>
        </p:txBody>
      </p:sp>
      <p:sp>
        <p:nvSpPr>
          <p:cNvPr id="10" name="Text 6"/>
          <p:cNvSpPr/>
          <p:nvPr/>
        </p:nvSpPr>
        <p:spPr>
          <a:xfrm>
            <a:off x="4709160" y="1600200"/>
            <a:ext cx="3931920" cy="731520"/>
          </a:xfrm>
          <a:prstGeom prst="rect">
            <a:avLst/>
          </a:prstGeom>
          <a:noFill/>
          <a:ln/>
        </p:spPr>
        <p:txBody>
          <a:bodyPr wrap="square" rtlCol="0" anchor="ctr"/>
          <a:lstStyle/>
          <a:p>
            <a:pPr marL="0" indent="0">
              <a:buNone/>
            </a:pPr>
            <a:r>
              <a:rPr lang="en-US" sz="1000" dirty="0">
                <a:solidFill>
                  <a:srgbClr val="030A18"/>
                </a:solidFill>
              </a:rPr>
              <a:t>Real‑time exports triggered by business events (e.g. PO confirmation). Ensures immediate delivery and accurate status.</a:t>
            </a:r>
            <a:endParaRPr lang="en-US" sz="1000" dirty="0"/>
          </a:p>
        </p:txBody>
      </p:sp>
      <p:sp>
        <p:nvSpPr>
          <p:cNvPr id="11" name="Shape 7"/>
          <p:cNvSpPr/>
          <p:nvPr/>
        </p:nvSpPr>
        <p:spPr>
          <a:xfrm>
            <a:off x="365760" y="2468880"/>
            <a:ext cx="4023360" cy="1143000"/>
          </a:xfrm>
          <a:prstGeom prst="roundRect">
            <a:avLst>
              <a:gd name="adj" fmla="val 4000"/>
            </a:avLst>
          </a:prstGeom>
          <a:solidFill>
            <a:srgbClr val="F5F8E6"/>
          </a:solidFill>
          <a:ln w="12700">
            <a:solidFill>
              <a:srgbClr val="F5F8E6"/>
            </a:solidFill>
            <a:prstDash val="solid"/>
          </a:ln>
        </p:spPr>
        <p:txBody>
          <a:bodyPr/>
          <a:lstStyle/>
          <a:p>
            <a:endParaRPr/>
          </a:p>
        </p:txBody>
      </p:sp>
      <p:pic>
        <p:nvPicPr>
          <p:cNvPr id="12" name="Image 2" descr="preencoded.png"/>
          <p:cNvPicPr>
            <a:picLocks noChangeAspect="1"/>
          </p:cNvPicPr>
          <p:nvPr/>
        </p:nvPicPr>
        <p:blipFill>
          <a:blip r:embed="rId5"/>
          <a:stretch>
            <a:fillRect/>
          </a:stretch>
        </p:blipFill>
        <p:spPr>
          <a:xfrm>
            <a:off x="502920" y="2606040"/>
            <a:ext cx="274320" cy="274320"/>
          </a:xfrm>
          <a:prstGeom prst="rect">
            <a:avLst/>
          </a:prstGeom>
        </p:spPr>
      </p:pic>
      <p:sp>
        <p:nvSpPr>
          <p:cNvPr id="13" name="Text 8"/>
          <p:cNvSpPr/>
          <p:nvPr/>
        </p:nvSpPr>
        <p:spPr>
          <a:xfrm>
            <a:off x="822960" y="2578608"/>
            <a:ext cx="3566160" cy="274320"/>
          </a:xfrm>
          <a:prstGeom prst="rect">
            <a:avLst/>
          </a:prstGeom>
          <a:noFill/>
          <a:ln/>
        </p:spPr>
        <p:txBody>
          <a:bodyPr wrap="square" rtlCol="0" anchor="ctr"/>
          <a:lstStyle/>
          <a:p>
            <a:pPr marL="0" indent="0">
              <a:buNone/>
            </a:pPr>
            <a:r>
              <a:rPr lang="en-US" sz="1400" b="1" dirty="0">
                <a:solidFill>
                  <a:srgbClr val="030A18"/>
                </a:solidFill>
              </a:rPr>
              <a:t>Periodic Export</a:t>
            </a:r>
            <a:endParaRPr lang="en-US" sz="1400" dirty="0"/>
          </a:p>
        </p:txBody>
      </p:sp>
      <p:sp>
        <p:nvSpPr>
          <p:cNvPr id="14" name="Text 9"/>
          <p:cNvSpPr/>
          <p:nvPr/>
        </p:nvSpPr>
        <p:spPr>
          <a:xfrm>
            <a:off x="502920" y="2880360"/>
            <a:ext cx="3931920" cy="731520"/>
          </a:xfrm>
          <a:prstGeom prst="rect">
            <a:avLst/>
          </a:prstGeom>
          <a:noFill/>
          <a:ln/>
        </p:spPr>
        <p:txBody>
          <a:bodyPr wrap="square" rtlCol="0" anchor="ctr"/>
          <a:lstStyle/>
          <a:p>
            <a:pPr marL="0" indent="0">
              <a:buNone/>
            </a:pPr>
            <a:r>
              <a:rPr lang="en-US" sz="1000" dirty="0">
                <a:solidFill>
                  <a:srgbClr val="030A18"/>
                </a:solidFill>
              </a:rPr>
              <a:t>Scheduled exports of datasets to files or SFTP on a regular cadence for reporting or integrations.</a:t>
            </a:r>
            <a:endParaRPr lang="en-US" sz="1000" dirty="0"/>
          </a:p>
        </p:txBody>
      </p:sp>
      <p:sp>
        <p:nvSpPr>
          <p:cNvPr id="15" name="Shape 10"/>
          <p:cNvSpPr/>
          <p:nvPr/>
        </p:nvSpPr>
        <p:spPr>
          <a:xfrm>
            <a:off x="4572000" y="2468880"/>
            <a:ext cx="4023360" cy="1143000"/>
          </a:xfrm>
          <a:prstGeom prst="roundRect">
            <a:avLst>
              <a:gd name="adj" fmla="val 4000"/>
            </a:avLst>
          </a:prstGeom>
          <a:solidFill>
            <a:srgbClr val="EEF7F3"/>
          </a:solidFill>
          <a:ln w="12700">
            <a:solidFill>
              <a:srgbClr val="EEF7F3"/>
            </a:solidFill>
            <a:prstDash val="solid"/>
          </a:ln>
        </p:spPr>
        <p:txBody>
          <a:bodyPr/>
          <a:lstStyle/>
          <a:p>
            <a:endParaRPr/>
          </a:p>
        </p:txBody>
      </p:sp>
      <p:pic>
        <p:nvPicPr>
          <p:cNvPr id="16" name="Image 3" descr="preencoded.png"/>
          <p:cNvPicPr>
            <a:picLocks noChangeAspect="1"/>
          </p:cNvPicPr>
          <p:nvPr/>
        </p:nvPicPr>
        <p:blipFill>
          <a:blip r:embed="rId6"/>
          <a:stretch>
            <a:fillRect/>
          </a:stretch>
        </p:blipFill>
        <p:spPr>
          <a:xfrm>
            <a:off x="4709160" y="2606040"/>
            <a:ext cx="274320" cy="274320"/>
          </a:xfrm>
          <a:prstGeom prst="rect">
            <a:avLst/>
          </a:prstGeom>
        </p:spPr>
      </p:pic>
      <p:sp>
        <p:nvSpPr>
          <p:cNvPr id="17" name="Text 11"/>
          <p:cNvSpPr/>
          <p:nvPr/>
        </p:nvSpPr>
        <p:spPr>
          <a:xfrm>
            <a:off x="5029200" y="2578608"/>
            <a:ext cx="3566160" cy="274320"/>
          </a:xfrm>
          <a:prstGeom prst="rect">
            <a:avLst/>
          </a:prstGeom>
          <a:noFill/>
          <a:ln/>
        </p:spPr>
        <p:txBody>
          <a:bodyPr wrap="square" rtlCol="0" anchor="ctr"/>
          <a:lstStyle/>
          <a:p>
            <a:pPr marL="0" indent="0">
              <a:buNone/>
            </a:pPr>
            <a:r>
              <a:rPr lang="en-US" sz="1400" b="1" dirty="0">
                <a:solidFill>
                  <a:srgbClr val="030A18"/>
                </a:solidFill>
              </a:rPr>
              <a:t>Service‑Based</a:t>
            </a:r>
            <a:endParaRPr lang="en-US" sz="1400" dirty="0"/>
          </a:p>
        </p:txBody>
      </p:sp>
      <p:sp>
        <p:nvSpPr>
          <p:cNvPr id="18" name="Text 12"/>
          <p:cNvSpPr/>
          <p:nvPr/>
        </p:nvSpPr>
        <p:spPr>
          <a:xfrm>
            <a:off x="4709160" y="2880360"/>
            <a:ext cx="3931920" cy="731520"/>
          </a:xfrm>
          <a:prstGeom prst="rect">
            <a:avLst/>
          </a:prstGeom>
          <a:noFill/>
          <a:ln/>
        </p:spPr>
        <p:txBody>
          <a:bodyPr wrap="square" rtlCol="0" anchor="ctr"/>
          <a:lstStyle/>
          <a:p>
            <a:pPr marL="0" indent="0">
              <a:buNone/>
            </a:pPr>
            <a:r>
              <a:rPr lang="en-US" sz="1000" dirty="0">
                <a:solidFill>
                  <a:srgbClr val="030A18"/>
                </a:solidFill>
              </a:rPr>
              <a:t>Asynchronous integrations leveraging queues (e.g. Azure Service Bus) for reliability and decoupling.</a:t>
            </a:r>
            <a:endParaRPr lang="en-US" sz="1000" dirty="0"/>
          </a:p>
        </p:txBody>
      </p:sp>
      <p:sp>
        <p:nvSpPr>
          <p:cNvPr id="19" name="Text 13"/>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7"/>
              </a:rPr>
              <a:t>[3]</a:t>
            </a:r>
            <a:r>
              <a:rPr lang="en-US" sz="600" dirty="0">
                <a:solidFill>
                  <a:srgbClr val="000000"/>
                </a:solidFill>
              </a:rPr>
              <a:t>  </a:t>
            </a:r>
            <a:r>
              <a:rPr lang="en-US" sz="600" u="sng" dirty="0">
                <a:solidFill>
                  <a:srgbClr val="2E76BC"/>
                </a:solidFill>
                <a:hlinkClick r:id="rId8"/>
              </a:rPr>
              <a:t>[4]</a:t>
            </a:r>
            <a:r>
              <a:rPr lang="en-US" sz="600" dirty="0">
                <a:solidFill>
                  <a:srgbClr val="000000"/>
                </a:solidFill>
              </a:rPr>
              <a:t>  </a:t>
            </a:r>
            <a:r>
              <a:rPr lang="en-US" sz="600" u="sng" dirty="0">
                <a:solidFill>
                  <a:srgbClr val="2E76BC"/>
                </a:solidFill>
                <a:hlinkClick r:id="rId9"/>
              </a:rPr>
              <a:t>[5]</a:t>
            </a:r>
            <a:r>
              <a:rPr lang="en-US" sz="600" dirty="0">
                <a:solidFill>
                  <a:srgbClr val="000000"/>
                </a:solidFill>
              </a:rPr>
              <a:t>  </a:t>
            </a:r>
            <a:r>
              <a:rPr lang="en-US" sz="600" u="sng" dirty="0">
                <a:solidFill>
                  <a:srgbClr val="2E76BC"/>
                </a:solidFill>
                <a:hlinkClick r:id="rId10"/>
              </a:rPr>
              <a:t>[6]</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412480" cy="548640"/>
          </a:xfrm>
          <a:prstGeom prst="rect">
            <a:avLst/>
          </a:prstGeom>
          <a:noFill/>
          <a:ln/>
        </p:spPr>
        <p:txBody>
          <a:bodyPr wrap="square" rtlCol="0" anchor="ctr"/>
          <a:lstStyle/>
          <a:p>
            <a:pPr marL="0" indent="0">
              <a:buNone/>
            </a:pPr>
            <a:r>
              <a:rPr lang="en-US" sz="2400" b="1" dirty="0">
                <a:solidFill>
                  <a:srgbClr val="030A18"/>
                </a:solidFill>
              </a:rPr>
              <a:t>Data Formats &amp; Channels</a:t>
            </a:r>
            <a:endParaRPr lang="en-US" sz="2400" dirty="0"/>
          </a:p>
        </p:txBody>
      </p:sp>
      <p:sp>
        <p:nvSpPr>
          <p:cNvPr id="3" name="Text 1"/>
          <p:cNvSpPr/>
          <p:nvPr/>
        </p:nvSpPr>
        <p:spPr>
          <a:xfrm>
            <a:off x="365760" y="1097280"/>
            <a:ext cx="4114800" cy="365760"/>
          </a:xfrm>
          <a:prstGeom prst="rect">
            <a:avLst/>
          </a:prstGeom>
          <a:noFill/>
          <a:ln/>
        </p:spPr>
        <p:txBody>
          <a:bodyPr wrap="square" rtlCol="0" anchor="ctr"/>
          <a:lstStyle/>
          <a:p>
            <a:pPr marL="0" indent="0">
              <a:buNone/>
            </a:pPr>
            <a:r>
              <a:rPr lang="en-US" sz="1600" b="1" dirty="0">
                <a:solidFill>
                  <a:srgbClr val="030A18"/>
                </a:solidFill>
              </a:rPr>
              <a:t>Formats</a:t>
            </a:r>
            <a:endParaRPr lang="en-US" sz="1600" dirty="0"/>
          </a:p>
        </p:txBody>
      </p:sp>
      <p:sp>
        <p:nvSpPr>
          <p:cNvPr id="4" name="Text 2"/>
          <p:cNvSpPr/>
          <p:nvPr/>
        </p:nvSpPr>
        <p:spPr>
          <a:xfrm>
            <a:off x="4754880" y="1097280"/>
            <a:ext cx="4114800" cy="365760"/>
          </a:xfrm>
          <a:prstGeom prst="rect">
            <a:avLst/>
          </a:prstGeom>
          <a:noFill/>
          <a:ln/>
        </p:spPr>
        <p:txBody>
          <a:bodyPr wrap="square" rtlCol="0" anchor="ctr"/>
          <a:lstStyle/>
          <a:p>
            <a:pPr marL="0" indent="0">
              <a:buNone/>
            </a:pPr>
            <a:r>
              <a:rPr lang="en-US" sz="1600" b="1" dirty="0">
                <a:solidFill>
                  <a:srgbClr val="030A18"/>
                </a:solidFill>
              </a:rPr>
              <a:t>Channels</a:t>
            </a:r>
            <a:endParaRPr lang="en-US" sz="1600" dirty="0"/>
          </a:p>
        </p:txBody>
      </p:sp>
      <p:sp>
        <p:nvSpPr>
          <p:cNvPr id="5" name="Shape 3"/>
          <p:cNvSpPr/>
          <p:nvPr/>
        </p:nvSpPr>
        <p:spPr>
          <a:xfrm>
            <a:off x="365760" y="1463040"/>
            <a:ext cx="4114800" cy="457200"/>
          </a:xfrm>
          <a:prstGeom prst="rect">
            <a:avLst/>
          </a:prstGeom>
          <a:solidFill>
            <a:srgbClr val="F1F4F8"/>
          </a:solidFill>
          <a:ln w="12700">
            <a:solidFill>
              <a:srgbClr val="F1F4F8"/>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457200" y="1554480"/>
            <a:ext cx="274320" cy="274320"/>
          </a:xfrm>
          <a:prstGeom prst="rect">
            <a:avLst/>
          </a:prstGeom>
        </p:spPr>
      </p:pic>
      <p:sp>
        <p:nvSpPr>
          <p:cNvPr id="7" name="Text 4"/>
          <p:cNvSpPr/>
          <p:nvPr/>
        </p:nvSpPr>
        <p:spPr>
          <a:xfrm>
            <a:off x="822960" y="1508760"/>
            <a:ext cx="3566160" cy="365760"/>
          </a:xfrm>
          <a:prstGeom prst="rect">
            <a:avLst/>
          </a:prstGeom>
          <a:noFill/>
          <a:ln/>
        </p:spPr>
        <p:txBody>
          <a:bodyPr wrap="square" rtlCol="0" anchor="ctr"/>
          <a:lstStyle/>
          <a:p>
            <a:pPr marL="0" indent="0">
              <a:buNone/>
            </a:pPr>
            <a:r>
              <a:rPr lang="en-US" sz="1200" dirty="0">
                <a:solidFill>
                  <a:srgbClr val="030A18"/>
                </a:solidFill>
              </a:rPr>
              <a:t>CSV</a:t>
            </a:r>
            <a:endParaRPr lang="en-US" sz="1200" dirty="0"/>
          </a:p>
        </p:txBody>
      </p:sp>
      <p:sp>
        <p:nvSpPr>
          <p:cNvPr id="8" name="Shape 5"/>
          <p:cNvSpPr/>
          <p:nvPr/>
        </p:nvSpPr>
        <p:spPr>
          <a:xfrm>
            <a:off x="365760" y="1920240"/>
            <a:ext cx="4114800" cy="457200"/>
          </a:xfrm>
          <a:prstGeom prst="rect">
            <a:avLst/>
          </a:prstGeom>
          <a:solidFill>
            <a:srgbClr val="FFFFFF"/>
          </a:solidFill>
          <a:ln w="12700">
            <a:solidFill>
              <a:srgbClr val="FFFFFF"/>
            </a:solidFill>
            <a:prstDash val="solid"/>
          </a:ln>
        </p:spPr>
        <p:txBody>
          <a:bodyPr/>
          <a:lstStyle/>
          <a:p>
            <a:endParaRPr/>
          </a:p>
        </p:txBody>
      </p:sp>
      <p:pic>
        <p:nvPicPr>
          <p:cNvPr id="9" name="Image 1" descr="preencoded.png"/>
          <p:cNvPicPr>
            <a:picLocks noChangeAspect="1"/>
          </p:cNvPicPr>
          <p:nvPr/>
        </p:nvPicPr>
        <p:blipFill>
          <a:blip r:embed="rId4"/>
          <a:stretch>
            <a:fillRect/>
          </a:stretch>
        </p:blipFill>
        <p:spPr>
          <a:xfrm>
            <a:off x="457200" y="2011680"/>
            <a:ext cx="274320" cy="274320"/>
          </a:xfrm>
          <a:prstGeom prst="rect">
            <a:avLst/>
          </a:prstGeom>
        </p:spPr>
      </p:pic>
      <p:sp>
        <p:nvSpPr>
          <p:cNvPr id="10" name="Text 6"/>
          <p:cNvSpPr/>
          <p:nvPr/>
        </p:nvSpPr>
        <p:spPr>
          <a:xfrm>
            <a:off x="822960" y="1965960"/>
            <a:ext cx="3566160" cy="365760"/>
          </a:xfrm>
          <a:prstGeom prst="rect">
            <a:avLst/>
          </a:prstGeom>
          <a:noFill/>
          <a:ln/>
        </p:spPr>
        <p:txBody>
          <a:bodyPr wrap="square" rtlCol="0" anchor="ctr"/>
          <a:lstStyle/>
          <a:p>
            <a:pPr marL="0" indent="0">
              <a:buNone/>
            </a:pPr>
            <a:r>
              <a:rPr lang="en-US" sz="1200" dirty="0">
                <a:solidFill>
                  <a:srgbClr val="030A18"/>
                </a:solidFill>
              </a:rPr>
              <a:t>EDI</a:t>
            </a:r>
            <a:endParaRPr lang="en-US" sz="1200" dirty="0"/>
          </a:p>
        </p:txBody>
      </p:sp>
      <p:sp>
        <p:nvSpPr>
          <p:cNvPr id="11" name="Shape 7"/>
          <p:cNvSpPr/>
          <p:nvPr/>
        </p:nvSpPr>
        <p:spPr>
          <a:xfrm>
            <a:off x="365760" y="2377440"/>
            <a:ext cx="4114800" cy="457200"/>
          </a:xfrm>
          <a:prstGeom prst="rect">
            <a:avLst/>
          </a:prstGeom>
          <a:solidFill>
            <a:srgbClr val="F1F4F8"/>
          </a:solidFill>
          <a:ln w="12700">
            <a:solidFill>
              <a:srgbClr val="F1F4F8"/>
            </a:solidFill>
            <a:prstDash val="solid"/>
          </a:ln>
        </p:spPr>
        <p:txBody>
          <a:bodyPr/>
          <a:lstStyle/>
          <a:p>
            <a:endParaRPr/>
          </a:p>
        </p:txBody>
      </p:sp>
      <p:pic>
        <p:nvPicPr>
          <p:cNvPr id="12" name="Image 2" descr="preencoded.png"/>
          <p:cNvPicPr>
            <a:picLocks noChangeAspect="1"/>
          </p:cNvPicPr>
          <p:nvPr/>
        </p:nvPicPr>
        <p:blipFill>
          <a:blip r:embed="rId5"/>
          <a:stretch>
            <a:fillRect/>
          </a:stretch>
        </p:blipFill>
        <p:spPr>
          <a:xfrm>
            <a:off x="457200" y="2468880"/>
            <a:ext cx="274320" cy="274320"/>
          </a:xfrm>
          <a:prstGeom prst="rect">
            <a:avLst/>
          </a:prstGeom>
        </p:spPr>
      </p:pic>
      <p:sp>
        <p:nvSpPr>
          <p:cNvPr id="13" name="Text 8"/>
          <p:cNvSpPr/>
          <p:nvPr/>
        </p:nvSpPr>
        <p:spPr>
          <a:xfrm>
            <a:off x="822960" y="2423160"/>
            <a:ext cx="3566160" cy="365760"/>
          </a:xfrm>
          <a:prstGeom prst="rect">
            <a:avLst/>
          </a:prstGeom>
          <a:noFill/>
          <a:ln/>
        </p:spPr>
        <p:txBody>
          <a:bodyPr wrap="square" rtlCol="0" anchor="ctr"/>
          <a:lstStyle/>
          <a:p>
            <a:pPr marL="0" indent="0">
              <a:buNone/>
            </a:pPr>
            <a:r>
              <a:rPr lang="en-US" sz="1200" dirty="0">
                <a:solidFill>
                  <a:srgbClr val="030A18"/>
                </a:solidFill>
              </a:rPr>
              <a:t>Excel</a:t>
            </a:r>
            <a:endParaRPr lang="en-US" sz="1200" dirty="0"/>
          </a:p>
        </p:txBody>
      </p:sp>
      <p:sp>
        <p:nvSpPr>
          <p:cNvPr id="14" name="Shape 9"/>
          <p:cNvSpPr/>
          <p:nvPr/>
        </p:nvSpPr>
        <p:spPr>
          <a:xfrm>
            <a:off x="365760" y="2834640"/>
            <a:ext cx="4114800" cy="457200"/>
          </a:xfrm>
          <a:prstGeom prst="rect">
            <a:avLst/>
          </a:prstGeom>
          <a:solidFill>
            <a:srgbClr val="FFFFFF"/>
          </a:solidFill>
          <a:ln w="12700">
            <a:solidFill>
              <a:srgbClr val="FFFFFF"/>
            </a:solidFill>
            <a:prstDash val="solid"/>
          </a:ln>
        </p:spPr>
        <p:txBody>
          <a:bodyPr/>
          <a:lstStyle/>
          <a:p>
            <a:endParaRPr/>
          </a:p>
        </p:txBody>
      </p:sp>
      <p:pic>
        <p:nvPicPr>
          <p:cNvPr id="15" name="Image 3" descr="preencoded.png"/>
          <p:cNvPicPr>
            <a:picLocks noChangeAspect="1"/>
          </p:cNvPicPr>
          <p:nvPr/>
        </p:nvPicPr>
        <p:blipFill>
          <a:blip r:embed="rId6"/>
          <a:stretch>
            <a:fillRect/>
          </a:stretch>
        </p:blipFill>
        <p:spPr>
          <a:xfrm>
            <a:off x="457200" y="2926080"/>
            <a:ext cx="274320" cy="274320"/>
          </a:xfrm>
          <a:prstGeom prst="rect">
            <a:avLst/>
          </a:prstGeom>
        </p:spPr>
      </p:pic>
      <p:sp>
        <p:nvSpPr>
          <p:cNvPr id="16" name="Text 10"/>
          <p:cNvSpPr/>
          <p:nvPr/>
        </p:nvSpPr>
        <p:spPr>
          <a:xfrm>
            <a:off x="822960" y="2880360"/>
            <a:ext cx="3566160" cy="365760"/>
          </a:xfrm>
          <a:prstGeom prst="rect">
            <a:avLst/>
          </a:prstGeom>
          <a:noFill/>
          <a:ln/>
        </p:spPr>
        <p:txBody>
          <a:bodyPr wrap="square" rtlCol="0" anchor="ctr"/>
          <a:lstStyle/>
          <a:p>
            <a:pPr marL="0" indent="0">
              <a:buNone/>
            </a:pPr>
            <a:r>
              <a:rPr lang="en-US" sz="1200" dirty="0">
                <a:solidFill>
                  <a:srgbClr val="030A18"/>
                </a:solidFill>
              </a:rPr>
              <a:t>XML</a:t>
            </a:r>
            <a:endParaRPr lang="en-US" sz="1200" dirty="0"/>
          </a:p>
        </p:txBody>
      </p:sp>
      <p:sp>
        <p:nvSpPr>
          <p:cNvPr id="17" name="Shape 11"/>
          <p:cNvSpPr/>
          <p:nvPr/>
        </p:nvSpPr>
        <p:spPr>
          <a:xfrm>
            <a:off x="365760" y="3291840"/>
            <a:ext cx="4114800" cy="457200"/>
          </a:xfrm>
          <a:prstGeom prst="rect">
            <a:avLst/>
          </a:prstGeom>
          <a:solidFill>
            <a:srgbClr val="F1F4F8"/>
          </a:solidFill>
          <a:ln w="12700">
            <a:solidFill>
              <a:srgbClr val="F1F4F8"/>
            </a:solidFill>
            <a:prstDash val="solid"/>
          </a:ln>
        </p:spPr>
        <p:txBody>
          <a:bodyPr/>
          <a:lstStyle/>
          <a:p>
            <a:endParaRPr/>
          </a:p>
        </p:txBody>
      </p:sp>
      <p:pic>
        <p:nvPicPr>
          <p:cNvPr id="18" name="Image 4" descr="preencoded.png"/>
          <p:cNvPicPr>
            <a:picLocks noChangeAspect="1"/>
          </p:cNvPicPr>
          <p:nvPr/>
        </p:nvPicPr>
        <p:blipFill>
          <a:blip r:embed="rId4"/>
          <a:stretch>
            <a:fillRect/>
          </a:stretch>
        </p:blipFill>
        <p:spPr>
          <a:xfrm>
            <a:off x="457200" y="3383280"/>
            <a:ext cx="274320" cy="274320"/>
          </a:xfrm>
          <a:prstGeom prst="rect">
            <a:avLst/>
          </a:prstGeom>
        </p:spPr>
      </p:pic>
      <p:sp>
        <p:nvSpPr>
          <p:cNvPr id="19" name="Text 12"/>
          <p:cNvSpPr/>
          <p:nvPr/>
        </p:nvSpPr>
        <p:spPr>
          <a:xfrm>
            <a:off x="822960" y="3337560"/>
            <a:ext cx="3566160" cy="365760"/>
          </a:xfrm>
          <a:prstGeom prst="rect">
            <a:avLst/>
          </a:prstGeom>
          <a:noFill/>
          <a:ln/>
        </p:spPr>
        <p:txBody>
          <a:bodyPr wrap="square" rtlCol="0" anchor="ctr"/>
          <a:lstStyle/>
          <a:p>
            <a:pPr marL="0" indent="0">
              <a:buNone/>
            </a:pPr>
            <a:r>
              <a:rPr lang="en-US" sz="1200" dirty="0">
                <a:solidFill>
                  <a:srgbClr val="030A18"/>
                </a:solidFill>
              </a:rPr>
              <a:t>JSON</a:t>
            </a:r>
            <a:endParaRPr lang="en-US" sz="1200" dirty="0"/>
          </a:p>
        </p:txBody>
      </p:sp>
      <p:sp>
        <p:nvSpPr>
          <p:cNvPr id="20" name="Shape 13"/>
          <p:cNvSpPr/>
          <p:nvPr/>
        </p:nvSpPr>
        <p:spPr>
          <a:xfrm>
            <a:off x="4754880" y="1463040"/>
            <a:ext cx="4114800" cy="457200"/>
          </a:xfrm>
          <a:prstGeom prst="rect">
            <a:avLst/>
          </a:prstGeom>
          <a:solidFill>
            <a:srgbClr val="F1F4F8"/>
          </a:solidFill>
          <a:ln w="12700">
            <a:solidFill>
              <a:srgbClr val="F1F4F8"/>
            </a:solidFill>
            <a:prstDash val="solid"/>
          </a:ln>
        </p:spPr>
        <p:txBody>
          <a:bodyPr/>
          <a:lstStyle/>
          <a:p>
            <a:endParaRPr/>
          </a:p>
        </p:txBody>
      </p:sp>
      <p:pic>
        <p:nvPicPr>
          <p:cNvPr id="21" name="Image 5" descr="preencoded.png"/>
          <p:cNvPicPr>
            <a:picLocks noChangeAspect="1"/>
          </p:cNvPicPr>
          <p:nvPr/>
        </p:nvPicPr>
        <p:blipFill>
          <a:blip r:embed="rId7"/>
          <a:stretch>
            <a:fillRect/>
          </a:stretch>
        </p:blipFill>
        <p:spPr>
          <a:xfrm>
            <a:off x="4846320" y="1554480"/>
            <a:ext cx="274320" cy="274320"/>
          </a:xfrm>
          <a:prstGeom prst="rect">
            <a:avLst/>
          </a:prstGeom>
        </p:spPr>
      </p:pic>
      <p:sp>
        <p:nvSpPr>
          <p:cNvPr id="22" name="Text 14"/>
          <p:cNvSpPr/>
          <p:nvPr/>
        </p:nvSpPr>
        <p:spPr>
          <a:xfrm>
            <a:off x="5212080" y="1508760"/>
            <a:ext cx="3566160" cy="365760"/>
          </a:xfrm>
          <a:prstGeom prst="rect">
            <a:avLst/>
          </a:prstGeom>
          <a:noFill/>
          <a:ln/>
        </p:spPr>
        <p:txBody>
          <a:bodyPr wrap="square" rtlCol="0" anchor="ctr"/>
          <a:lstStyle/>
          <a:p>
            <a:pPr marL="0" indent="0">
              <a:buNone/>
            </a:pPr>
            <a:r>
              <a:rPr lang="en-US" sz="1200" dirty="0">
                <a:solidFill>
                  <a:srgbClr val="030A18"/>
                </a:solidFill>
              </a:rPr>
              <a:t>Service Bus</a:t>
            </a:r>
            <a:endParaRPr lang="en-US" sz="1200" dirty="0"/>
          </a:p>
        </p:txBody>
      </p:sp>
      <p:sp>
        <p:nvSpPr>
          <p:cNvPr id="23" name="Shape 15"/>
          <p:cNvSpPr/>
          <p:nvPr/>
        </p:nvSpPr>
        <p:spPr>
          <a:xfrm>
            <a:off x="4754880" y="1920240"/>
            <a:ext cx="4114800" cy="457200"/>
          </a:xfrm>
          <a:prstGeom prst="rect">
            <a:avLst/>
          </a:prstGeom>
          <a:solidFill>
            <a:srgbClr val="FFFFFF"/>
          </a:solidFill>
          <a:ln w="12700">
            <a:solidFill>
              <a:srgbClr val="FFFFFF"/>
            </a:solidFill>
            <a:prstDash val="solid"/>
          </a:ln>
        </p:spPr>
        <p:txBody>
          <a:bodyPr/>
          <a:lstStyle/>
          <a:p>
            <a:endParaRPr/>
          </a:p>
        </p:txBody>
      </p:sp>
      <p:pic>
        <p:nvPicPr>
          <p:cNvPr id="24" name="Image 6" descr="preencoded.png"/>
          <p:cNvPicPr>
            <a:picLocks noChangeAspect="1"/>
          </p:cNvPicPr>
          <p:nvPr/>
        </p:nvPicPr>
        <p:blipFill>
          <a:blip r:embed="rId8"/>
          <a:stretch>
            <a:fillRect/>
          </a:stretch>
        </p:blipFill>
        <p:spPr>
          <a:xfrm>
            <a:off x="4846320" y="2011680"/>
            <a:ext cx="274320" cy="274320"/>
          </a:xfrm>
          <a:prstGeom prst="rect">
            <a:avLst/>
          </a:prstGeom>
        </p:spPr>
      </p:pic>
      <p:sp>
        <p:nvSpPr>
          <p:cNvPr id="25" name="Text 16"/>
          <p:cNvSpPr/>
          <p:nvPr/>
        </p:nvSpPr>
        <p:spPr>
          <a:xfrm>
            <a:off x="5212080" y="1965960"/>
            <a:ext cx="3566160" cy="365760"/>
          </a:xfrm>
          <a:prstGeom prst="rect">
            <a:avLst/>
          </a:prstGeom>
          <a:noFill/>
          <a:ln/>
        </p:spPr>
        <p:txBody>
          <a:bodyPr wrap="square" rtlCol="0" anchor="ctr"/>
          <a:lstStyle/>
          <a:p>
            <a:pPr marL="0" indent="0">
              <a:buNone/>
            </a:pPr>
            <a:r>
              <a:rPr lang="en-US" sz="1200" dirty="0">
                <a:solidFill>
                  <a:srgbClr val="030A18"/>
                </a:solidFill>
              </a:rPr>
              <a:t>SFTP</a:t>
            </a:r>
            <a:endParaRPr lang="en-US" sz="1200" dirty="0"/>
          </a:p>
        </p:txBody>
      </p:sp>
      <p:sp>
        <p:nvSpPr>
          <p:cNvPr id="26" name="Shape 17"/>
          <p:cNvSpPr/>
          <p:nvPr/>
        </p:nvSpPr>
        <p:spPr>
          <a:xfrm>
            <a:off x="4754880" y="2377440"/>
            <a:ext cx="4114800" cy="457200"/>
          </a:xfrm>
          <a:prstGeom prst="rect">
            <a:avLst/>
          </a:prstGeom>
          <a:solidFill>
            <a:srgbClr val="F1F4F8"/>
          </a:solidFill>
          <a:ln w="12700">
            <a:solidFill>
              <a:srgbClr val="F1F4F8"/>
            </a:solidFill>
            <a:prstDash val="solid"/>
          </a:ln>
        </p:spPr>
        <p:txBody>
          <a:bodyPr/>
          <a:lstStyle/>
          <a:p>
            <a:endParaRPr/>
          </a:p>
        </p:txBody>
      </p:sp>
      <p:pic>
        <p:nvPicPr>
          <p:cNvPr id="27" name="Image 7" descr="preencoded.png"/>
          <p:cNvPicPr>
            <a:picLocks noChangeAspect="1"/>
          </p:cNvPicPr>
          <p:nvPr/>
        </p:nvPicPr>
        <p:blipFill>
          <a:blip r:embed="rId9"/>
          <a:stretch>
            <a:fillRect/>
          </a:stretch>
        </p:blipFill>
        <p:spPr>
          <a:xfrm>
            <a:off x="4846320" y="2468880"/>
            <a:ext cx="274320" cy="274320"/>
          </a:xfrm>
          <a:prstGeom prst="rect">
            <a:avLst/>
          </a:prstGeom>
        </p:spPr>
      </p:pic>
      <p:sp>
        <p:nvSpPr>
          <p:cNvPr id="28" name="Text 18"/>
          <p:cNvSpPr/>
          <p:nvPr/>
        </p:nvSpPr>
        <p:spPr>
          <a:xfrm>
            <a:off x="5212080" y="2423160"/>
            <a:ext cx="3566160" cy="365760"/>
          </a:xfrm>
          <a:prstGeom prst="rect">
            <a:avLst/>
          </a:prstGeom>
          <a:noFill/>
          <a:ln/>
        </p:spPr>
        <p:txBody>
          <a:bodyPr wrap="square" rtlCol="0" anchor="ctr"/>
          <a:lstStyle/>
          <a:p>
            <a:pPr marL="0" indent="0">
              <a:buNone/>
            </a:pPr>
            <a:r>
              <a:rPr lang="en-US" sz="1200" dirty="0">
                <a:solidFill>
                  <a:srgbClr val="030A18"/>
                </a:solidFill>
              </a:rPr>
              <a:t>Azure File Share</a:t>
            </a:r>
            <a:endParaRPr lang="en-US" sz="1200" dirty="0"/>
          </a:p>
        </p:txBody>
      </p:sp>
      <p:sp>
        <p:nvSpPr>
          <p:cNvPr id="29" name="Shape 19"/>
          <p:cNvSpPr/>
          <p:nvPr/>
        </p:nvSpPr>
        <p:spPr>
          <a:xfrm>
            <a:off x="4754880" y="2834640"/>
            <a:ext cx="4114800" cy="457200"/>
          </a:xfrm>
          <a:prstGeom prst="rect">
            <a:avLst/>
          </a:prstGeom>
          <a:solidFill>
            <a:srgbClr val="FFFFFF"/>
          </a:solidFill>
          <a:ln w="12700">
            <a:solidFill>
              <a:srgbClr val="FFFFFF"/>
            </a:solidFill>
            <a:prstDash val="solid"/>
          </a:ln>
        </p:spPr>
        <p:txBody>
          <a:bodyPr/>
          <a:lstStyle/>
          <a:p>
            <a:endParaRPr/>
          </a:p>
        </p:txBody>
      </p:sp>
      <p:pic>
        <p:nvPicPr>
          <p:cNvPr id="30" name="Image 8" descr="preencoded.png"/>
          <p:cNvPicPr>
            <a:picLocks noChangeAspect="1"/>
          </p:cNvPicPr>
          <p:nvPr/>
        </p:nvPicPr>
        <p:blipFill>
          <a:blip r:embed="rId10"/>
          <a:stretch>
            <a:fillRect/>
          </a:stretch>
        </p:blipFill>
        <p:spPr>
          <a:xfrm>
            <a:off x="4846320" y="2926080"/>
            <a:ext cx="274320" cy="274320"/>
          </a:xfrm>
          <a:prstGeom prst="rect">
            <a:avLst/>
          </a:prstGeom>
        </p:spPr>
      </p:pic>
      <p:sp>
        <p:nvSpPr>
          <p:cNvPr id="31" name="Text 20"/>
          <p:cNvSpPr/>
          <p:nvPr/>
        </p:nvSpPr>
        <p:spPr>
          <a:xfrm>
            <a:off x="5212080" y="2880360"/>
            <a:ext cx="3566160" cy="365760"/>
          </a:xfrm>
          <a:prstGeom prst="rect">
            <a:avLst/>
          </a:prstGeom>
          <a:noFill/>
          <a:ln/>
        </p:spPr>
        <p:txBody>
          <a:bodyPr wrap="square" rtlCol="0" anchor="ctr"/>
          <a:lstStyle/>
          <a:p>
            <a:pPr marL="0" indent="0">
              <a:buNone/>
            </a:pPr>
            <a:r>
              <a:rPr lang="en-US" sz="1200" dirty="0">
                <a:solidFill>
                  <a:srgbClr val="030A18"/>
                </a:solidFill>
              </a:rPr>
              <a:t>REST API</a:t>
            </a:r>
            <a:endParaRPr lang="en-US" sz="1200" dirty="0"/>
          </a:p>
        </p:txBody>
      </p:sp>
      <p:sp>
        <p:nvSpPr>
          <p:cNvPr id="32" name="Shape 21"/>
          <p:cNvSpPr/>
          <p:nvPr/>
        </p:nvSpPr>
        <p:spPr>
          <a:xfrm>
            <a:off x="4754880" y="3291840"/>
            <a:ext cx="4114800" cy="457200"/>
          </a:xfrm>
          <a:prstGeom prst="rect">
            <a:avLst/>
          </a:prstGeom>
          <a:solidFill>
            <a:srgbClr val="F1F4F8"/>
          </a:solidFill>
          <a:ln w="12700">
            <a:solidFill>
              <a:srgbClr val="F1F4F8"/>
            </a:solidFill>
            <a:prstDash val="solid"/>
          </a:ln>
        </p:spPr>
        <p:txBody>
          <a:bodyPr/>
          <a:lstStyle/>
          <a:p>
            <a:endParaRPr/>
          </a:p>
        </p:txBody>
      </p:sp>
      <p:pic>
        <p:nvPicPr>
          <p:cNvPr id="33" name="Image 9" descr="preencoded.png"/>
          <p:cNvPicPr>
            <a:picLocks noChangeAspect="1"/>
          </p:cNvPicPr>
          <p:nvPr/>
        </p:nvPicPr>
        <p:blipFill>
          <a:blip r:embed="rId11"/>
          <a:stretch>
            <a:fillRect/>
          </a:stretch>
        </p:blipFill>
        <p:spPr>
          <a:xfrm>
            <a:off x="4846320" y="3383280"/>
            <a:ext cx="274320" cy="274320"/>
          </a:xfrm>
          <a:prstGeom prst="rect">
            <a:avLst/>
          </a:prstGeom>
        </p:spPr>
      </p:pic>
      <p:sp>
        <p:nvSpPr>
          <p:cNvPr id="34" name="Text 22"/>
          <p:cNvSpPr/>
          <p:nvPr/>
        </p:nvSpPr>
        <p:spPr>
          <a:xfrm>
            <a:off x="5212080" y="3337560"/>
            <a:ext cx="3566160" cy="365760"/>
          </a:xfrm>
          <a:prstGeom prst="rect">
            <a:avLst/>
          </a:prstGeom>
          <a:noFill/>
          <a:ln/>
        </p:spPr>
        <p:txBody>
          <a:bodyPr wrap="square" rtlCol="0" anchor="ctr"/>
          <a:lstStyle/>
          <a:p>
            <a:pPr marL="0" indent="0">
              <a:buNone/>
            </a:pPr>
            <a:r>
              <a:rPr lang="en-US" sz="1200" dirty="0">
                <a:solidFill>
                  <a:srgbClr val="030A18"/>
                </a:solidFill>
              </a:rPr>
              <a:t>AI (LLM)</a:t>
            </a:r>
            <a:endParaRPr lang="en-US" sz="1200" dirty="0"/>
          </a:p>
        </p:txBody>
      </p:sp>
      <p:sp>
        <p:nvSpPr>
          <p:cNvPr id="35" name="Shape 23"/>
          <p:cNvSpPr/>
          <p:nvPr/>
        </p:nvSpPr>
        <p:spPr>
          <a:xfrm>
            <a:off x="4754880" y="3749040"/>
            <a:ext cx="4114800" cy="457200"/>
          </a:xfrm>
          <a:prstGeom prst="rect">
            <a:avLst/>
          </a:prstGeom>
          <a:solidFill>
            <a:srgbClr val="FFFFFF"/>
          </a:solidFill>
          <a:ln w="12700">
            <a:solidFill>
              <a:srgbClr val="FFFFFF"/>
            </a:solidFill>
            <a:prstDash val="solid"/>
          </a:ln>
        </p:spPr>
        <p:txBody>
          <a:bodyPr/>
          <a:lstStyle/>
          <a:p>
            <a:endParaRPr/>
          </a:p>
        </p:txBody>
      </p:sp>
      <p:pic>
        <p:nvPicPr>
          <p:cNvPr id="36" name="Image 10" descr="preencoded.png"/>
          <p:cNvPicPr>
            <a:picLocks noChangeAspect="1"/>
          </p:cNvPicPr>
          <p:nvPr/>
        </p:nvPicPr>
        <p:blipFill>
          <a:blip r:embed="rId12"/>
          <a:stretch>
            <a:fillRect/>
          </a:stretch>
        </p:blipFill>
        <p:spPr>
          <a:xfrm>
            <a:off x="4846320" y="3840480"/>
            <a:ext cx="274320" cy="274320"/>
          </a:xfrm>
          <a:prstGeom prst="rect">
            <a:avLst/>
          </a:prstGeom>
        </p:spPr>
      </p:pic>
      <p:sp>
        <p:nvSpPr>
          <p:cNvPr id="37" name="Text 24"/>
          <p:cNvSpPr/>
          <p:nvPr/>
        </p:nvSpPr>
        <p:spPr>
          <a:xfrm>
            <a:off x="5212080" y="3794760"/>
            <a:ext cx="3566160" cy="365760"/>
          </a:xfrm>
          <a:prstGeom prst="rect">
            <a:avLst/>
          </a:prstGeom>
          <a:noFill/>
          <a:ln/>
        </p:spPr>
        <p:txBody>
          <a:bodyPr wrap="square" rtlCol="0" anchor="ctr"/>
          <a:lstStyle/>
          <a:p>
            <a:pPr marL="0" indent="0">
              <a:buNone/>
            </a:pPr>
            <a:r>
              <a:rPr lang="en-US" sz="1200" dirty="0">
                <a:solidFill>
                  <a:srgbClr val="030A18"/>
                </a:solidFill>
              </a:rPr>
              <a:t>Manual</a:t>
            </a:r>
            <a:endParaRPr lang="en-US" sz="1200" dirty="0"/>
          </a:p>
        </p:txBody>
      </p:sp>
      <p:sp>
        <p:nvSpPr>
          <p:cNvPr id="38" name="Text 25"/>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13"/>
              </a:rPr>
              <a:t>[7]</a:t>
            </a:r>
            <a:r>
              <a:rPr lang="en-US" sz="600" dirty="0">
                <a:solidFill>
                  <a:srgbClr val="000000"/>
                </a:solidFill>
              </a:rPr>
              <a:t>  </a:t>
            </a:r>
            <a:r>
              <a:rPr lang="en-US" sz="600" u="sng" dirty="0">
                <a:solidFill>
                  <a:srgbClr val="2E76BC"/>
                </a:solidFill>
                <a:hlinkClick r:id="rId14"/>
              </a:rPr>
              <a:t>[8]</a:t>
            </a:r>
            <a:r>
              <a:rPr lang="en-US" sz="600" dirty="0">
                <a:solidFill>
                  <a:srgbClr val="000000"/>
                </a:solidFill>
              </a:rPr>
              <a:t>  </a:t>
            </a:r>
            <a:r>
              <a:rPr lang="en-US" sz="600" u="sng" dirty="0">
                <a:solidFill>
                  <a:srgbClr val="2E76BC"/>
                </a:solidFill>
                <a:hlinkClick r:id="rId15"/>
              </a:rPr>
              <a:t>[9]</a:t>
            </a:r>
            <a:r>
              <a:rPr lang="en-US" sz="600" dirty="0">
                <a:solidFill>
                  <a:srgbClr val="000000"/>
                </a:solidFill>
              </a:rPr>
              <a:t>  </a:t>
            </a:r>
            <a:r>
              <a:rPr lang="en-US" sz="600" u="sng" dirty="0">
                <a:solidFill>
                  <a:srgbClr val="2E76BC"/>
                </a:solidFill>
                <a:hlinkClick r:id="rId16"/>
              </a:rPr>
              <a:t>[10]</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412480" cy="548640"/>
          </a:xfrm>
          <a:prstGeom prst="rect">
            <a:avLst/>
          </a:prstGeom>
          <a:noFill/>
          <a:ln/>
        </p:spPr>
        <p:txBody>
          <a:bodyPr wrap="square" rtlCol="0" anchor="ctr"/>
          <a:lstStyle/>
          <a:p>
            <a:pPr marL="0" indent="0">
              <a:buNone/>
            </a:pPr>
            <a:r>
              <a:rPr lang="en-US" sz="2400" b="1" dirty="0">
                <a:solidFill>
                  <a:srgbClr val="030A18"/>
                </a:solidFill>
              </a:rPr>
              <a:t>Why Choose External Integration?</a:t>
            </a:r>
            <a:endParaRPr lang="en-US" sz="2400" dirty="0"/>
          </a:p>
        </p:txBody>
      </p:sp>
      <p:sp>
        <p:nvSpPr>
          <p:cNvPr id="3" name="Text 1"/>
          <p:cNvSpPr/>
          <p:nvPr/>
        </p:nvSpPr>
        <p:spPr>
          <a:xfrm>
            <a:off x="365760" y="914400"/>
            <a:ext cx="4114800" cy="274320"/>
          </a:xfrm>
          <a:prstGeom prst="rect">
            <a:avLst/>
          </a:prstGeom>
          <a:noFill/>
          <a:ln/>
        </p:spPr>
        <p:txBody>
          <a:bodyPr wrap="square" rtlCol="0" anchor="ctr"/>
          <a:lstStyle/>
          <a:p>
            <a:pPr marL="0" indent="0">
              <a:buNone/>
            </a:pPr>
            <a:r>
              <a:rPr lang="en-US" sz="1400" b="1" dirty="0">
                <a:solidFill>
                  <a:srgbClr val="030A18"/>
                </a:solidFill>
              </a:rPr>
              <a:t>Standard tools (DMF/Business Events)</a:t>
            </a:r>
            <a:endParaRPr lang="en-US" sz="1400" dirty="0"/>
          </a:p>
        </p:txBody>
      </p:sp>
      <p:pic>
        <p:nvPicPr>
          <p:cNvPr id="4" name="Image 0" descr="preencoded.png"/>
          <p:cNvPicPr>
            <a:picLocks noChangeAspect="1"/>
          </p:cNvPicPr>
          <p:nvPr/>
        </p:nvPicPr>
        <p:blipFill>
          <a:blip r:embed="rId3"/>
          <a:stretch>
            <a:fillRect/>
          </a:stretch>
        </p:blipFill>
        <p:spPr>
          <a:xfrm>
            <a:off x="365760" y="1188720"/>
            <a:ext cx="228600" cy="228600"/>
          </a:xfrm>
          <a:prstGeom prst="rect">
            <a:avLst/>
          </a:prstGeom>
        </p:spPr>
      </p:pic>
      <p:sp>
        <p:nvSpPr>
          <p:cNvPr id="5" name="Text 2"/>
          <p:cNvSpPr/>
          <p:nvPr/>
        </p:nvSpPr>
        <p:spPr>
          <a:xfrm>
            <a:off x="640080" y="1188720"/>
            <a:ext cx="3474720" cy="274320"/>
          </a:xfrm>
          <a:prstGeom prst="rect">
            <a:avLst/>
          </a:prstGeom>
          <a:noFill/>
          <a:ln/>
        </p:spPr>
        <p:txBody>
          <a:bodyPr wrap="square" rtlCol="0" anchor="ctr"/>
          <a:lstStyle/>
          <a:p>
            <a:pPr marL="0" indent="0">
              <a:buNone/>
            </a:pPr>
            <a:r>
              <a:rPr lang="en-US" sz="1100" dirty="0">
                <a:solidFill>
                  <a:srgbClr val="030A18"/>
                </a:solidFill>
              </a:rPr>
              <a:t>Limited format support (mostly DMF)</a:t>
            </a:r>
            <a:endParaRPr lang="en-US" sz="1100" dirty="0"/>
          </a:p>
        </p:txBody>
      </p:sp>
      <p:pic>
        <p:nvPicPr>
          <p:cNvPr id="6" name="Image 1" descr="preencoded.png"/>
          <p:cNvPicPr>
            <a:picLocks noChangeAspect="1"/>
          </p:cNvPicPr>
          <p:nvPr/>
        </p:nvPicPr>
        <p:blipFill>
          <a:blip r:embed="rId3"/>
          <a:stretch>
            <a:fillRect/>
          </a:stretch>
        </p:blipFill>
        <p:spPr>
          <a:xfrm>
            <a:off x="365760" y="1645920"/>
            <a:ext cx="228600" cy="228600"/>
          </a:xfrm>
          <a:prstGeom prst="rect">
            <a:avLst/>
          </a:prstGeom>
        </p:spPr>
      </p:pic>
      <p:sp>
        <p:nvSpPr>
          <p:cNvPr id="7" name="Text 3"/>
          <p:cNvSpPr/>
          <p:nvPr/>
        </p:nvSpPr>
        <p:spPr>
          <a:xfrm>
            <a:off x="640080" y="1645920"/>
            <a:ext cx="3474720" cy="274320"/>
          </a:xfrm>
          <a:prstGeom prst="rect">
            <a:avLst/>
          </a:prstGeom>
          <a:noFill/>
          <a:ln/>
        </p:spPr>
        <p:txBody>
          <a:bodyPr wrap="square" rtlCol="0" anchor="ctr"/>
          <a:lstStyle/>
          <a:p>
            <a:pPr marL="0" indent="0">
              <a:buNone/>
            </a:pPr>
            <a:r>
              <a:rPr lang="en-US" sz="1100" dirty="0">
                <a:solidFill>
                  <a:srgbClr val="030A18"/>
                </a:solidFill>
              </a:rPr>
              <a:t>Harder to customise behaviour</a:t>
            </a:r>
            <a:endParaRPr lang="en-US" sz="1100" dirty="0"/>
          </a:p>
        </p:txBody>
      </p:sp>
      <p:pic>
        <p:nvPicPr>
          <p:cNvPr id="8" name="Image 2" descr="preencoded.png"/>
          <p:cNvPicPr>
            <a:picLocks noChangeAspect="1"/>
          </p:cNvPicPr>
          <p:nvPr/>
        </p:nvPicPr>
        <p:blipFill>
          <a:blip r:embed="rId3"/>
          <a:stretch>
            <a:fillRect/>
          </a:stretch>
        </p:blipFill>
        <p:spPr>
          <a:xfrm>
            <a:off x="365760" y="2103120"/>
            <a:ext cx="228600" cy="228600"/>
          </a:xfrm>
          <a:prstGeom prst="rect">
            <a:avLst/>
          </a:prstGeom>
        </p:spPr>
      </p:pic>
      <p:sp>
        <p:nvSpPr>
          <p:cNvPr id="9" name="Text 4"/>
          <p:cNvSpPr/>
          <p:nvPr/>
        </p:nvSpPr>
        <p:spPr>
          <a:xfrm>
            <a:off x="640080" y="2103120"/>
            <a:ext cx="3474720" cy="274320"/>
          </a:xfrm>
          <a:prstGeom prst="rect">
            <a:avLst/>
          </a:prstGeom>
          <a:noFill/>
          <a:ln/>
        </p:spPr>
        <p:txBody>
          <a:bodyPr wrap="square" rtlCol="0" anchor="ctr"/>
          <a:lstStyle/>
          <a:p>
            <a:pPr marL="0" indent="0">
              <a:buNone/>
            </a:pPr>
            <a:r>
              <a:rPr lang="en-US" sz="1100" dirty="0">
                <a:solidFill>
                  <a:srgbClr val="030A18"/>
                </a:solidFill>
              </a:rPr>
              <a:t>Minimal error visibility &amp; logging</a:t>
            </a:r>
            <a:endParaRPr lang="en-US" sz="1100" dirty="0"/>
          </a:p>
        </p:txBody>
      </p:sp>
      <p:pic>
        <p:nvPicPr>
          <p:cNvPr id="10" name="Image 3" descr="preencoded.png"/>
          <p:cNvPicPr>
            <a:picLocks noChangeAspect="1"/>
          </p:cNvPicPr>
          <p:nvPr/>
        </p:nvPicPr>
        <p:blipFill>
          <a:blip r:embed="rId3"/>
          <a:stretch>
            <a:fillRect/>
          </a:stretch>
        </p:blipFill>
        <p:spPr>
          <a:xfrm>
            <a:off x="365760" y="2560320"/>
            <a:ext cx="228600" cy="228600"/>
          </a:xfrm>
          <a:prstGeom prst="rect">
            <a:avLst/>
          </a:prstGeom>
        </p:spPr>
      </p:pic>
      <p:sp>
        <p:nvSpPr>
          <p:cNvPr id="11" name="Text 5"/>
          <p:cNvSpPr/>
          <p:nvPr/>
        </p:nvSpPr>
        <p:spPr>
          <a:xfrm>
            <a:off x="640080" y="2560320"/>
            <a:ext cx="3474720" cy="274320"/>
          </a:xfrm>
          <a:prstGeom prst="rect">
            <a:avLst/>
          </a:prstGeom>
          <a:noFill/>
          <a:ln/>
        </p:spPr>
        <p:txBody>
          <a:bodyPr wrap="square" rtlCol="0" anchor="ctr"/>
          <a:lstStyle/>
          <a:p>
            <a:pPr marL="0" indent="0">
              <a:buNone/>
            </a:pPr>
            <a:r>
              <a:rPr lang="en-US" sz="1100" dirty="0">
                <a:solidFill>
                  <a:srgbClr val="030A18"/>
                </a:solidFill>
              </a:rPr>
              <a:t>Batch‑oriented, not real‑time</a:t>
            </a:r>
            <a:endParaRPr lang="en-US" sz="1100" dirty="0"/>
          </a:p>
        </p:txBody>
      </p:sp>
      <p:sp>
        <p:nvSpPr>
          <p:cNvPr id="12" name="Text 6"/>
          <p:cNvSpPr/>
          <p:nvPr/>
        </p:nvSpPr>
        <p:spPr>
          <a:xfrm>
            <a:off x="4572000" y="914400"/>
            <a:ext cx="4114800" cy="274320"/>
          </a:xfrm>
          <a:prstGeom prst="rect">
            <a:avLst/>
          </a:prstGeom>
          <a:noFill/>
          <a:ln/>
        </p:spPr>
        <p:txBody>
          <a:bodyPr wrap="square" rtlCol="0" anchor="ctr"/>
          <a:lstStyle/>
          <a:p>
            <a:pPr marL="0" indent="0">
              <a:buNone/>
            </a:pPr>
            <a:r>
              <a:rPr lang="en-US" sz="1400" b="1" dirty="0">
                <a:solidFill>
                  <a:srgbClr val="030A18"/>
                </a:solidFill>
              </a:rPr>
              <a:t>External Integration Framework</a:t>
            </a:r>
            <a:endParaRPr lang="en-US" sz="1400" dirty="0"/>
          </a:p>
        </p:txBody>
      </p:sp>
      <p:pic>
        <p:nvPicPr>
          <p:cNvPr id="13" name="Image 4" descr="preencoded.png"/>
          <p:cNvPicPr>
            <a:picLocks noChangeAspect="1"/>
          </p:cNvPicPr>
          <p:nvPr/>
        </p:nvPicPr>
        <p:blipFill>
          <a:blip r:embed="rId4"/>
          <a:stretch>
            <a:fillRect/>
          </a:stretch>
        </p:blipFill>
        <p:spPr>
          <a:xfrm>
            <a:off x="4572000" y="1188720"/>
            <a:ext cx="228600" cy="228600"/>
          </a:xfrm>
          <a:prstGeom prst="rect">
            <a:avLst/>
          </a:prstGeom>
        </p:spPr>
      </p:pic>
      <p:sp>
        <p:nvSpPr>
          <p:cNvPr id="14" name="Text 7"/>
          <p:cNvSpPr/>
          <p:nvPr/>
        </p:nvSpPr>
        <p:spPr>
          <a:xfrm>
            <a:off x="4846320" y="1188720"/>
            <a:ext cx="3840480" cy="274320"/>
          </a:xfrm>
          <a:prstGeom prst="rect">
            <a:avLst/>
          </a:prstGeom>
          <a:noFill/>
          <a:ln/>
        </p:spPr>
        <p:txBody>
          <a:bodyPr wrap="square" rtlCol="0" anchor="ctr"/>
          <a:lstStyle/>
          <a:p>
            <a:pPr marL="0" indent="0">
              <a:buNone/>
            </a:pPr>
            <a:r>
              <a:rPr lang="en-US" sz="1100" dirty="0">
                <a:solidFill>
                  <a:srgbClr val="030A18"/>
                </a:solidFill>
              </a:rPr>
              <a:t>Supports CSV, Excel, XML, JSON &amp; PDF via AI</a:t>
            </a:r>
            <a:endParaRPr lang="en-US" sz="1100" dirty="0"/>
          </a:p>
        </p:txBody>
      </p:sp>
      <p:pic>
        <p:nvPicPr>
          <p:cNvPr id="15" name="Image 5" descr="preencoded.png"/>
          <p:cNvPicPr>
            <a:picLocks noChangeAspect="1"/>
          </p:cNvPicPr>
          <p:nvPr/>
        </p:nvPicPr>
        <p:blipFill>
          <a:blip r:embed="rId4"/>
          <a:stretch>
            <a:fillRect/>
          </a:stretch>
        </p:blipFill>
        <p:spPr>
          <a:xfrm>
            <a:off x="4572000" y="1645920"/>
            <a:ext cx="228600" cy="228600"/>
          </a:xfrm>
          <a:prstGeom prst="rect">
            <a:avLst/>
          </a:prstGeom>
        </p:spPr>
      </p:pic>
      <p:sp>
        <p:nvSpPr>
          <p:cNvPr id="16" name="Text 8"/>
          <p:cNvSpPr/>
          <p:nvPr/>
        </p:nvSpPr>
        <p:spPr>
          <a:xfrm>
            <a:off x="4846320" y="1645920"/>
            <a:ext cx="3840480" cy="274320"/>
          </a:xfrm>
          <a:prstGeom prst="rect">
            <a:avLst/>
          </a:prstGeom>
          <a:noFill/>
          <a:ln/>
        </p:spPr>
        <p:txBody>
          <a:bodyPr wrap="square" rtlCol="0" anchor="ctr"/>
          <a:lstStyle/>
          <a:p>
            <a:pPr marL="0" indent="0">
              <a:buNone/>
            </a:pPr>
            <a:r>
              <a:rPr lang="en-US" sz="1100" dirty="0">
                <a:solidFill>
                  <a:srgbClr val="030A18"/>
                </a:solidFill>
              </a:rPr>
              <a:t>Extensible X++ classes &amp; templates</a:t>
            </a:r>
            <a:endParaRPr lang="en-US" sz="1100" dirty="0"/>
          </a:p>
        </p:txBody>
      </p:sp>
      <p:pic>
        <p:nvPicPr>
          <p:cNvPr id="17" name="Image 6" descr="preencoded.png"/>
          <p:cNvPicPr>
            <a:picLocks noChangeAspect="1"/>
          </p:cNvPicPr>
          <p:nvPr/>
        </p:nvPicPr>
        <p:blipFill>
          <a:blip r:embed="rId4"/>
          <a:stretch>
            <a:fillRect/>
          </a:stretch>
        </p:blipFill>
        <p:spPr>
          <a:xfrm>
            <a:off x="4572000" y="2103120"/>
            <a:ext cx="228600" cy="228600"/>
          </a:xfrm>
          <a:prstGeom prst="rect">
            <a:avLst/>
          </a:prstGeom>
        </p:spPr>
      </p:pic>
      <p:sp>
        <p:nvSpPr>
          <p:cNvPr id="18" name="Text 9"/>
          <p:cNvSpPr/>
          <p:nvPr/>
        </p:nvSpPr>
        <p:spPr>
          <a:xfrm>
            <a:off x="4846320" y="2103120"/>
            <a:ext cx="3840480" cy="274320"/>
          </a:xfrm>
          <a:prstGeom prst="rect">
            <a:avLst/>
          </a:prstGeom>
          <a:noFill/>
          <a:ln/>
        </p:spPr>
        <p:txBody>
          <a:bodyPr wrap="square" rtlCol="0" anchor="ctr"/>
          <a:lstStyle/>
          <a:p>
            <a:pPr marL="0" indent="0">
              <a:buNone/>
            </a:pPr>
            <a:r>
              <a:rPr lang="en-US" sz="1100" dirty="0">
                <a:solidFill>
                  <a:srgbClr val="030A18"/>
                </a:solidFill>
              </a:rPr>
              <a:t>Unified logging &amp; error handling</a:t>
            </a:r>
            <a:endParaRPr lang="en-US" sz="1100" dirty="0"/>
          </a:p>
        </p:txBody>
      </p:sp>
      <p:pic>
        <p:nvPicPr>
          <p:cNvPr id="19" name="Image 7" descr="preencoded.png"/>
          <p:cNvPicPr>
            <a:picLocks noChangeAspect="1"/>
          </p:cNvPicPr>
          <p:nvPr/>
        </p:nvPicPr>
        <p:blipFill>
          <a:blip r:embed="rId4"/>
          <a:stretch>
            <a:fillRect/>
          </a:stretch>
        </p:blipFill>
        <p:spPr>
          <a:xfrm>
            <a:off x="4572000" y="2560320"/>
            <a:ext cx="228600" cy="228600"/>
          </a:xfrm>
          <a:prstGeom prst="rect">
            <a:avLst/>
          </a:prstGeom>
        </p:spPr>
      </p:pic>
      <p:sp>
        <p:nvSpPr>
          <p:cNvPr id="20" name="Text 10"/>
          <p:cNvSpPr/>
          <p:nvPr/>
        </p:nvSpPr>
        <p:spPr>
          <a:xfrm>
            <a:off x="4846320" y="2560320"/>
            <a:ext cx="3840480" cy="274320"/>
          </a:xfrm>
          <a:prstGeom prst="rect">
            <a:avLst/>
          </a:prstGeom>
          <a:noFill/>
          <a:ln/>
        </p:spPr>
        <p:txBody>
          <a:bodyPr wrap="square" rtlCol="0" anchor="ctr"/>
          <a:lstStyle/>
          <a:p>
            <a:pPr marL="0" indent="0">
              <a:buNone/>
            </a:pPr>
            <a:r>
              <a:rPr lang="en-US" sz="1100" dirty="0">
                <a:solidFill>
                  <a:srgbClr val="030A18"/>
                </a:solidFill>
              </a:rPr>
              <a:t>Real‑time, periodic &amp; asynchronous</a:t>
            </a:r>
            <a:endParaRPr lang="en-US" sz="1100" dirty="0"/>
          </a:p>
        </p:txBody>
      </p:sp>
      <p:pic>
        <p:nvPicPr>
          <p:cNvPr id="21" name="Image 8" descr="preencoded.png"/>
          <p:cNvPicPr>
            <a:picLocks noChangeAspect="1"/>
          </p:cNvPicPr>
          <p:nvPr/>
        </p:nvPicPr>
        <p:blipFill>
          <a:blip r:embed="rId4"/>
          <a:stretch>
            <a:fillRect/>
          </a:stretch>
        </p:blipFill>
        <p:spPr>
          <a:xfrm>
            <a:off x="4572000" y="3017520"/>
            <a:ext cx="228600" cy="228600"/>
          </a:xfrm>
          <a:prstGeom prst="rect">
            <a:avLst/>
          </a:prstGeom>
        </p:spPr>
      </p:pic>
      <p:sp>
        <p:nvSpPr>
          <p:cNvPr id="22" name="Text 11"/>
          <p:cNvSpPr/>
          <p:nvPr/>
        </p:nvSpPr>
        <p:spPr>
          <a:xfrm>
            <a:off x="4846320" y="3017520"/>
            <a:ext cx="3840480" cy="274320"/>
          </a:xfrm>
          <a:prstGeom prst="rect">
            <a:avLst/>
          </a:prstGeom>
          <a:noFill/>
          <a:ln/>
        </p:spPr>
        <p:txBody>
          <a:bodyPr wrap="square" rtlCol="0" anchor="ctr"/>
          <a:lstStyle/>
          <a:p>
            <a:pPr marL="0" indent="0">
              <a:buNone/>
            </a:pPr>
            <a:r>
              <a:rPr lang="en-US" sz="1100" dirty="0">
                <a:solidFill>
                  <a:srgbClr val="030A18"/>
                </a:solidFill>
              </a:rPr>
              <a:t>High performance for large volumes</a:t>
            </a:r>
            <a:endParaRPr lang="en-US" sz="1100" dirty="0"/>
          </a:p>
        </p:txBody>
      </p:sp>
      <p:sp>
        <p:nvSpPr>
          <p:cNvPr id="23" name="Shape 12"/>
          <p:cNvSpPr/>
          <p:nvPr/>
        </p:nvSpPr>
        <p:spPr>
          <a:xfrm>
            <a:off x="365760" y="3749040"/>
            <a:ext cx="8412480" cy="731520"/>
          </a:xfrm>
          <a:prstGeom prst="roundRect">
            <a:avLst>
              <a:gd name="adj" fmla="val 6250"/>
            </a:avLst>
          </a:prstGeom>
          <a:solidFill>
            <a:srgbClr val="E6F0FC"/>
          </a:solidFill>
          <a:ln w="12700">
            <a:solidFill>
              <a:srgbClr val="E6F0FC"/>
            </a:solidFill>
            <a:prstDash val="solid"/>
          </a:ln>
        </p:spPr>
        <p:txBody>
          <a:bodyPr/>
          <a:lstStyle/>
          <a:p>
            <a:endParaRPr/>
          </a:p>
        </p:txBody>
      </p:sp>
      <p:sp>
        <p:nvSpPr>
          <p:cNvPr id="24" name="Text 13"/>
          <p:cNvSpPr/>
          <p:nvPr/>
        </p:nvSpPr>
        <p:spPr>
          <a:xfrm>
            <a:off x="457200" y="3794760"/>
            <a:ext cx="8229600" cy="548640"/>
          </a:xfrm>
          <a:prstGeom prst="rect">
            <a:avLst/>
          </a:prstGeom>
          <a:noFill/>
          <a:ln/>
        </p:spPr>
        <p:txBody>
          <a:bodyPr wrap="square" rtlCol="0" anchor="ctr"/>
          <a:lstStyle/>
          <a:p>
            <a:pPr marL="0" indent="0">
              <a:buNone/>
            </a:pPr>
            <a:r>
              <a:rPr lang="en-US" sz="1400" b="1" dirty="0">
                <a:solidFill>
                  <a:srgbClr val="030A18"/>
                </a:solidFill>
              </a:rPr>
              <a:t>Key Benefits:</a:t>
            </a:r>
            <a:endParaRPr lang="en-US" sz="1400" dirty="0"/>
          </a:p>
          <a:p>
            <a:pPr marL="0" indent="0">
              <a:buNone/>
            </a:pPr>
            <a:r>
              <a:rPr lang="en-US" sz="1100" dirty="0">
                <a:solidFill>
                  <a:srgbClr val="030A18"/>
                </a:solidFill>
              </a:rPr>
              <a:t>• Streamlined, reusable design</a:t>
            </a:r>
            <a:endParaRPr lang="en-US" sz="1400" dirty="0"/>
          </a:p>
          <a:p>
            <a:pPr marL="0" indent="0">
              <a:buNone/>
            </a:pPr>
            <a:r>
              <a:rPr lang="en-US" sz="1100" dirty="0">
                <a:solidFill>
                  <a:srgbClr val="030A18"/>
                </a:solidFill>
              </a:rPr>
              <a:t>• Multiple transport &amp; format options</a:t>
            </a:r>
            <a:endParaRPr lang="en-US" sz="1400" dirty="0"/>
          </a:p>
          <a:p>
            <a:pPr marL="0" indent="0">
              <a:buNone/>
            </a:pPr>
            <a:r>
              <a:rPr lang="en-US" sz="1100" dirty="0">
                <a:solidFill>
                  <a:srgbClr val="030A18"/>
                </a:solidFill>
              </a:rPr>
              <a:t>• Better performance &amp; stability</a:t>
            </a:r>
            <a:endParaRPr lang="en-US" sz="1400" dirty="0"/>
          </a:p>
        </p:txBody>
      </p:sp>
      <p:sp>
        <p:nvSpPr>
          <p:cNvPr id="25" name="Text 14"/>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5"/>
              </a:rPr>
              <a:t>[11]</a:t>
            </a:r>
            <a:r>
              <a:rPr lang="en-US" sz="600" dirty="0">
                <a:solidFill>
                  <a:srgbClr val="000000"/>
                </a:solidFill>
              </a:rPr>
              <a:t>  </a:t>
            </a:r>
            <a:r>
              <a:rPr lang="en-US" sz="600" u="sng" dirty="0">
                <a:solidFill>
                  <a:srgbClr val="2E76BC"/>
                </a:solidFill>
                <a:hlinkClick r:id="rId6"/>
              </a:rPr>
              <a:t>[12]</a:t>
            </a:r>
            <a:r>
              <a:rPr lang="en-US" sz="600" dirty="0">
                <a:solidFill>
                  <a:srgbClr val="000000"/>
                </a:solidFill>
              </a:rPr>
              <a:t>  </a:t>
            </a:r>
            <a:r>
              <a:rPr lang="en-US" sz="600" u="sng" dirty="0">
                <a:solidFill>
                  <a:srgbClr val="2E76BC"/>
                </a:solidFill>
                <a:hlinkClick r:id="rId7"/>
              </a:rPr>
              <a:t>[13]</a:t>
            </a:r>
            <a:r>
              <a:rPr lang="en-US" sz="600" dirty="0">
                <a:solidFill>
                  <a:srgbClr val="000000"/>
                </a:solidFill>
              </a:rPr>
              <a:t>  </a:t>
            </a:r>
            <a:r>
              <a:rPr lang="en-US" sz="600" u="sng" dirty="0">
                <a:solidFill>
                  <a:srgbClr val="2E76BC"/>
                </a:solidFill>
                <a:hlinkClick r:id="rId8"/>
              </a:rPr>
              <a:t>[14]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412480" cy="548640"/>
          </a:xfrm>
          <a:prstGeom prst="rect">
            <a:avLst/>
          </a:prstGeom>
          <a:noFill/>
          <a:ln/>
        </p:spPr>
        <p:txBody>
          <a:bodyPr wrap="square" rtlCol="0" anchor="ctr"/>
          <a:lstStyle/>
          <a:p>
            <a:pPr marL="0" indent="0">
              <a:buNone/>
            </a:pPr>
            <a:r>
              <a:rPr lang="en-US" sz="2400" b="1" dirty="0">
                <a:solidFill>
                  <a:srgbClr val="030A18"/>
                </a:solidFill>
              </a:rPr>
              <a:t>Design &amp; Requirements</a:t>
            </a:r>
            <a:endParaRPr lang="en-US" sz="2400" dirty="0"/>
          </a:p>
        </p:txBody>
      </p:sp>
      <p:sp>
        <p:nvSpPr>
          <p:cNvPr id="3" name="Shape 1"/>
          <p:cNvSpPr/>
          <p:nvPr/>
        </p:nvSpPr>
        <p:spPr>
          <a:xfrm>
            <a:off x="365760" y="1280160"/>
            <a:ext cx="2560320" cy="1280160"/>
          </a:xfrm>
          <a:prstGeom prst="roundRect">
            <a:avLst>
              <a:gd name="adj" fmla="val 3571"/>
            </a:avLst>
          </a:prstGeom>
          <a:solidFill>
            <a:srgbClr val="F1F5FB"/>
          </a:solidFill>
          <a:ln w="12700">
            <a:solidFill>
              <a:srgbClr val="DCE8F6"/>
            </a:solidFill>
            <a:prstDash val="solid"/>
          </a:ln>
        </p:spPr>
        <p:txBody>
          <a:bodyPr/>
          <a:lstStyle/>
          <a:p>
            <a:endParaRPr/>
          </a:p>
        </p:txBody>
      </p:sp>
      <p:pic>
        <p:nvPicPr>
          <p:cNvPr id="4" name="Image 0" descr="preencoded.png"/>
          <p:cNvPicPr>
            <a:picLocks noChangeAspect="1"/>
          </p:cNvPicPr>
          <p:nvPr/>
        </p:nvPicPr>
        <p:blipFill>
          <a:blip r:embed="rId3"/>
          <a:stretch>
            <a:fillRect/>
          </a:stretch>
        </p:blipFill>
        <p:spPr>
          <a:xfrm>
            <a:off x="457200" y="1389888"/>
            <a:ext cx="274320" cy="274320"/>
          </a:xfrm>
          <a:prstGeom prst="rect">
            <a:avLst/>
          </a:prstGeom>
        </p:spPr>
      </p:pic>
      <p:sp>
        <p:nvSpPr>
          <p:cNvPr id="5" name="Text 2"/>
          <p:cNvSpPr/>
          <p:nvPr/>
        </p:nvSpPr>
        <p:spPr>
          <a:xfrm>
            <a:off x="822960" y="1389888"/>
            <a:ext cx="2103120" cy="274320"/>
          </a:xfrm>
          <a:prstGeom prst="rect">
            <a:avLst/>
          </a:prstGeom>
          <a:noFill/>
          <a:ln/>
        </p:spPr>
        <p:txBody>
          <a:bodyPr wrap="square" rtlCol="0" anchor="ctr"/>
          <a:lstStyle/>
          <a:p>
            <a:pPr marL="0" indent="0">
              <a:buNone/>
            </a:pPr>
            <a:r>
              <a:rPr lang="en-US" sz="1000" b="1" dirty="0">
                <a:solidFill>
                  <a:srgbClr val="030A18"/>
                </a:solidFill>
              </a:rPr>
              <a:t>Kickoff &amp; Data Mapping</a:t>
            </a:r>
            <a:endParaRPr lang="en-US" sz="1000" dirty="0"/>
          </a:p>
        </p:txBody>
      </p:sp>
      <p:sp>
        <p:nvSpPr>
          <p:cNvPr id="6" name="Text 3"/>
          <p:cNvSpPr/>
          <p:nvPr/>
        </p:nvSpPr>
        <p:spPr>
          <a:xfrm>
            <a:off x="457200" y="1691640"/>
            <a:ext cx="2560320" cy="548640"/>
          </a:xfrm>
          <a:prstGeom prst="rect">
            <a:avLst/>
          </a:prstGeom>
          <a:noFill/>
          <a:ln/>
        </p:spPr>
        <p:txBody>
          <a:bodyPr wrap="square" rtlCol="0" anchor="ctr"/>
          <a:lstStyle/>
          <a:p>
            <a:pPr marL="0" indent="0">
              <a:buNone/>
            </a:pPr>
            <a:r>
              <a:rPr lang="en-US" sz="800" dirty="0">
                <a:solidFill>
                  <a:srgbClr val="030A18"/>
                </a:solidFill>
              </a:rPr>
              <a:t>Define data mapping &amp; reference data; align teams &amp; scope.</a:t>
            </a:r>
            <a:endParaRPr lang="en-US" sz="800" dirty="0"/>
          </a:p>
        </p:txBody>
      </p:sp>
      <p:sp>
        <p:nvSpPr>
          <p:cNvPr id="7" name="Shape 4"/>
          <p:cNvSpPr/>
          <p:nvPr/>
        </p:nvSpPr>
        <p:spPr>
          <a:xfrm>
            <a:off x="3108960" y="1280160"/>
            <a:ext cx="2560320" cy="1280160"/>
          </a:xfrm>
          <a:prstGeom prst="roundRect">
            <a:avLst>
              <a:gd name="adj" fmla="val 3571"/>
            </a:avLst>
          </a:prstGeom>
          <a:solidFill>
            <a:srgbClr val="F1F5FB"/>
          </a:solidFill>
          <a:ln w="12700">
            <a:solidFill>
              <a:srgbClr val="DCE8F6"/>
            </a:solidFill>
            <a:prstDash val="solid"/>
          </a:ln>
        </p:spPr>
        <p:txBody>
          <a:bodyPr/>
          <a:lstStyle/>
          <a:p>
            <a:endParaRPr/>
          </a:p>
        </p:txBody>
      </p:sp>
      <p:pic>
        <p:nvPicPr>
          <p:cNvPr id="8" name="Image 1" descr="preencoded.png"/>
          <p:cNvPicPr>
            <a:picLocks noChangeAspect="1"/>
          </p:cNvPicPr>
          <p:nvPr/>
        </p:nvPicPr>
        <p:blipFill>
          <a:blip r:embed="rId4"/>
          <a:stretch>
            <a:fillRect/>
          </a:stretch>
        </p:blipFill>
        <p:spPr>
          <a:xfrm>
            <a:off x="3200400" y="1389888"/>
            <a:ext cx="274320" cy="274320"/>
          </a:xfrm>
          <a:prstGeom prst="rect">
            <a:avLst/>
          </a:prstGeom>
        </p:spPr>
      </p:pic>
      <p:sp>
        <p:nvSpPr>
          <p:cNvPr id="9" name="Text 5"/>
          <p:cNvSpPr/>
          <p:nvPr/>
        </p:nvSpPr>
        <p:spPr>
          <a:xfrm>
            <a:off x="3566160" y="1389888"/>
            <a:ext cx="2103120" cy="274320"/>
          </a:xfrm>
          <a:prstGeom prst="rect">
            <a:avLst/>
          </a:prstGeom>
          <a:noFill/>
          <a:ln/>
        </p:spPr>
        <p:txBody>
          <a:bodyPr wrap="square" rtlCol="0" anchor="ctr"/>
          <a:lstStyle/>
          <a:p>
            <a:pPr marL="0" indent="0">
              <a:buNone/>
            </a:pPr>
            <a:r>
              <a:rPr lang="en-US" sz="1000" b="1" dirty="0">
                <a:solidFill>
                  <a:srgbClr val="030A18"/>
                </a:solidFill>
              </a:rPr>
              <a:t>Select Type &amp; Channel</a:t>
            </a:r>
            <a:endParaRPr lang="en-US" sz="1000" dirty="0"/>
          </a:p>
        </p:txBody>
      </p:sp>
      <p:sp>
        <p:nvSpPr>
          <p:cNvPr id="10" name="Text 6"/>
          <p:cNvSpPr/>
          <p:nvPr/>
        </p:nvSpPr>
        <p:spPr>
          <a:xfrm>
            <a:off x="3200400" y="1691640"/>
            <a:ext cx="2560320" cy="548640"/>
          </a:xfrm>
          <a:prstGeom prst="rect">
            <a:avLst/>
          </a:prstGeom>
          <a:noFill/>
          <a:ln/>
        </p:spPr>
        <p:txBody>
          <a:bodyPr wrap="square" rtlCol="0" anchor="ctr"/>
          <a:lstStyle/>
          <a:p>
            <a:pPr marL="0" indent="0">
              <a:buNone/>
            </a:pPr>
            <a:r>
              <a:rPr lang="en-US" sz="800" dirty="0">
                <a:solidFill>
                  <a:srgbClr val="030A18"/>
                </a:solidFill>
              </a:rPr>
              <a:t>Choose inbound/outbound &amp; the right transport media.</a:t>
            </a:r>
            <a:endParaRPr lang="en-US" sz="800" dirty="0"/>
          </a:p>
        </p:txBody>
      </p:sp>
      <p:sp>
        <p:nvSpPr>
          <p:cNvPr id="11" name="Shape 7"/>
          <p:cNvSpPr/>
          <p:nvPr/>
        </p:nvSpPr>
        <p:spPr>
          <a:xfrm>
            <a:off x="5852160" y="1280160"/>
            <a:ext cx="2560320" cy="1280160"/>
          </a:xfrm>
          <a:prstGeom prst="roundRect">
            <a:avLst>
              <a:gd name="adj" fmla="val 3571"/>
            </a:avLst>
          </a:prstGeom>
          <a:solidFill>
            <a:srgbClr val="F1F5FB"/>
          </a:solidFill>
          <a:ln w="12700">
            <a:solidFill>
              <a:srgbClr val="DCE8F6"/>
            </a:solidFill>
            <a:prstDash val="solid"/>
          </a:ln>
        </p:spPr>
        <p:txBody>
          <a:bodyPr/>
          <a:lstStyle/>
          <a:p>
            <a:endParaRPr/>
          </a:p>
        </p:txBody>
      </p:sp>
      <p:pic>
        <p:nvPicPr>
          <p:cNvPr id="12" name="Image 2" descr="preencoded.png"/>
          <p:cNvPicPr>
            <a:picLocks noChangeAspect="1"/>
          </p:cNvPicPr>
          <p:nvPr/>
        </p:nvPicPr>
        <p:blipFill>
          <a:blip r:embed="rId5"/>
          <a:stretch>
            <a:fillRect/>
          </a:stretch>
        </p:blipFill>
        <p:spPr>
          <a:xfrm>
            <a:off x="5943600" y="1389888"/>
            <a:ext cx="274320" cy="274320"/>
          </a:xfrm>
          <a:prstGeom prst="rect">
            <a:avLst/>
          </a:prstGeom>
        </p:spPr>
      </p:pic>
      <p:sp>
        <p:nvSpPr>
          <p:cNvPr id="13" name="Text 8"/>
          <p:cNvSpPr/>
          <p:nvPr/>
        </p:nvSpPr>
        <p:spPr>
          <a:xfrm>
            <a:off x="6309360" y="1389888"/>
            <a:ext cx="2103120" cy="274320"/>
          </a:xfrm>
          <a:prstGeom prst="rect">
            <a:avLst/>
          </a:prstGeom>
          <a:noFill/>
          <a:ln/>
        </p:spPr>
        <p:txBody>
          <a:bodyPr wrap="square" rtlCol="0" anchor="ctr"/>
          <a:lstStyle/>
          <a:p>
            <a:pPr marL="0" indent="0">
              <a:buNone/>
            </a:pPr>
            <a:r>
              <a:rPr lang="en-US" sz="1000" b="1" dirty="0">
                <a:solidFill>
                  <a:srgbClr val="030A18"/>
                </a:solidFill>
              </a:rPr>
              <a:t>Configure Connections</a:t>
            </a:r>
            <a:endParaRPr lang="en-US" sz="1000" dirty="0"/>
          </a:p>
        </p:txBody>
      </p:sp>
      <p:sp>
        <p:nvSpPr>
          <p:cNvPr id="14" name="Text 9"/>
          <p:cNvSpPr/>
          <p:nvPr/>
        </p:nvSpPr>
        <p:spPr>
          <a:xfrm>
            <a:off x="5943600" y="1691640"/>
            <a:ext cx="2560320" cy="548640"/>
          </a:xfrm>
          <a:prstGeom prst="rect">
            <a:avLst/>
          </a:prstGeom>
          <a:noFill/>
          <a:ln/>
        </p:spPr>
        <p:txBody>
          <a:bodyPr wrap="square" rtlCol="0" anchor="ctr"/>
          <a:lstStyle/>
          <a:p>
            <a:pPr marL="0" indent="0">
              <a:buNone/>
            </a:pPr>
            <a:r>
              <a:rPr lang="en-US" sz="800" dirty="0">
                <a:solidFill>
                  <a:srgbClr val="030A18"/>
                </a:solidFill>
              </a:rPr>
              <a:t>Set up connection types &amp; message parameters.</a:t>
            </a:r>
            <a:endParaRPr lang="en-US" sz="800" dirty="0"/>
          </a:p>
        </p:txBody>
      </p:sp>
      <p:sp>
        <p:nvSpPr>
          <p:cNvPr id="15" name="Shape 10"/>
          <p:cNvSpPr/>
          <p:nvPr/>
        </p:nvSpPr>
        <p:spPr>
          <a:xfrm>
            <a:off x="1737360" y="2743200"/>
            <a:ext cx="2560320" cy="1280160"/>
          </a:xfrm>
          <a:prstGeom prst="roundRect">
            <a:avLst>
              <a:gd name="adj" fmla="val 3571"/>
            </a:avLst>
          </a:prstGeom>
          <a:solidFill>
            <a:srgbClr val="F1F5FB"/>
          </a:solidFill>
          <a:ln w="12700">
            <a:solidFill>
              <a:srgbClr val="DCE8F6"/>
            </a:solidFill>
            <a:prstDash val="solid"/>
          </a:ln>
        </p:spPr>
        <p:txBody>
          <a:bodyPr/>
          <a:lstStyle/>
          <a:p>
            <a:endParaRPr/>
          </a:p>
        </p:txBody>
      </p:sp>
      <p:pic>
        <p:nvPicPr>
          <p:cNvPr id="16" name="Image 3" descr="preencoded.png"/>
          <p:cNvPicPr>
            <a:picLocks noChangeAspect="1"/>
          </p:cNvPicPr>
          <p:nvPr/>
        </p:nvPicPr>
        <p:blipFill>
          <a:blip r:embed="rId6"/>
          <a:stretch>
            <a:fillRect/>
          </a:stretch>
        </p:blipFill>
        <p:spPr>
          <a:xfrm>
            <a:off x="1828800" y="2852928"/>
            <a:ext cx="274320" cy="274320"/>
          </a:xfrm>
          <a:prstGeom prst="rect">
            <a:avLst/>
          </a:prstGeom>
        </p:spPr>
      </p:pic>
      <p:sp>
        <p:nvSpPr>
          <p:cNvPr id="17" name="Text 11"/>
          <p:cNvSpPr/>
          <p:nvPr/>
        </p:nvSpPr>
        <p:spPr>
          <a:xfrm>
            <a:off x="2194560" y="2852928"/>
            <a:ext cx="2103120" cy="274320"/>
          </a:xfrm>
          <a:prstGeom prst="rect">
            <a:avLst/>
          </a:prstGeom>
          <a:noFill/>
          <a:ln/>
        </p:spPr>
        <p:txBody>
          <a:bodyPr wrap="square" rtlCol="0" anchor="ctr"/>
          <a:lstStyle/>
          <a:p>
            <a:pPr marL="0" indent="0">
              <a:buNone/>
            </a:pPr>
            <a:r>
              <a:rPr lang="en-US" sz="1000" b="1" dirty="0">
                <a:solidFill>
                  <a:srgbClr val="030A18"/>
                </a:solidFill>
              </a:rPr>
              <a:t>Develop &amp; Validate</a:t>
            </a:r>
            <a:endParaRPr lang="en-US" sz="1000" dirty="0"/>
          </a:p>
        </p:txBody>
      </p:sp>
      <p:sp>
        <p:nvSpPr>
          <p:cNvPr id="18" name="Text 12"/>
          <p:cNvSpPr/>
          <p:nvPr/>
        </p:nvSpPr>
        <p:spPr>
          <a:xfrm>
            <a:off x="1828800" y="3154680"/>
            <a:ext cx="2560320" cy="548640"/>
          </a:xfrm>
          <a:prstGeom prst="rect">
            <a:avLst/>
          </a:prstGeom>
          <a:noFill/>
          <a:ln/>
        </p:spPr>
        <p:txBody>
          <a:bodyPr wrap="square" rtlCol="0" anchor="ctr"/>
          <a:lstStyle/>
          <a:p>
            <a:pPr marL="0" indent="0">
              <a:buNone/>
            </a:pPr>
            <a:r>
              <a:rPr lang="en-US" sz="800" dirty="0">
                <a:solidFill>
                  <a:srgbClr val="030A18"/>
                </a:solidFill>
              </a:rPr>
              <a:t>Implement mapping in X++, stage data &amp; apply business validations.</a:t>
            </a:r>
            <a:endParaRPr lang="en-US" sz="800" dirty="0"/>
          </a:p>
        </p:txBody>
      </p:sp>
      <p:sp>
        <p:nvSpPr>
          <p:cNvPr id="19" name="Shape 13"/>
          <p:cNvSpPr/>
          <p:nvPr/>
        </p:nvSpPr>
        <p:spPr>
          <a:xfrm>
            <a:off x="4480560" y="2743200"/>
            <a:ext cx="2560320" cy="1280160"/>
          </a:xfrm>
          <a:prstGeom prst="roundRect">
            <a:avLst>
              <a:gd name="adj" fmla="val 3571"/>
            </a:avLst>
          </a:prstGeom>
          <a:solidFill>
            <a:srgbClr val="F1F5FB"/>
          </a:solidFill>
          <a:ln w="12700">
            <a:solidFill>
              <a:srgbClr val="DCE8F6"/>
            </a:solidFill>
            <a:prstDash val="solid"/>
          </a:ln>
        </p:spPr>
        <p:txBody>
          <a:bodyPr/>
          <a:lstStyle/>
          <a:p>
            <a:endParaRPr/>
          </a:p>
        </p:txBody>
      </p:sp>
      <p:pic>
        <p:nvPicPr>
          <p:cNvPr id="20" name="Image 4" descr="preencoded.png"/>
          <p:cNvPicPr>
            <a:picLocks noChangeAspect="1"/>
          </p:cNvPicPr>
          <p:nvPr/>
        </p:nvPicPr>
        <p:blipFill>
          <a:blip r:embed="rId7"/>
          <a:stretch>
            <a:fillRect/>
          </a:stretch>
        </p:blipFill>
        <p:spPr>
          <a:xfrm>
            <a:off x="4572000" y="2852928"/>
            <a:ext cx="274320" cy="274320"/>
          </a:xfrm>
          <a:prstGeom prst="rect">
            <a:avLst/>
          </a:prstGeom>
        </p:spPr>
      </p:pic>
      <p:sp>
        <p:nvSpPr>
          <p:cNvPr id="21" name="Text 14"/>
          <p:cNvSpPr/>
          <p:nvPr/>
        </p:nvSpPr>
        <p:spPr>
          <a:xfrm>
            <a:off x="4937760" y="2852928"/>
            <a:ext cx="2103120" cy="274320"/>
          </a:xfrm>
          <a:prstGeom prst="rect">
            <a:avLst/>
          </a:prstGeom>
          <a:noFill/>
          <a:ln/>
        </p:spPr>
        <p:txBody>
          <a:bodyPr wrap="square" rtlCol="0" anchor="ctr"/>
          <a:lstStyle/>
          <a:p>
            <a:pPr marL="0" indent="0">
              <a:buNone/>
            </a:pPr>
            <a:r>
              <a:rPr lang="en-US" sz="1000" b="1" dirty="0">
                <a:solidFill>
                  <a:srgbClr val="030A18"/>
                </a:solidFill>
              </a:rPr>
              <a:t>Test &amp; Tune</a:t>
            </a:r>
            <a:endParaRPr lang="en-US" sz="1000" dirty="0"/>
          </a:p>
        </p:txBody>
      </p:sp>
      <p:sp>
        <p:nvSpPr>
          <p:cNvPr id="22" name="Text 15"/>
          <p:cNvSpPr/>
          <p:nvPr/>
        </p:nvSpPr>
        <p:spPr>
          <a:xfrm>
            <a:off x="4572000" y="3154680"/>
            <a:ext cx="2560320" cy="548640"/>
          </a:xfrm>
          <a:prstGeom prst="rect">
            <a:avLst/>
          </a:prstGeom>
          <a:noFill/>
          <a:ln/>
        </p:spPr>
        <p:txBody>
          <a:bodyPr wrap="square" rtlCol="0" anchor="ctr"/>
          <a:lstStyle/>
          <a:p>
            <a:pPr marL="0" indent="0">
              <a:buNone/>
            </a:pPr>
            <a:r>
              <a:rPr lang="en-US" sz="800" dirty="0">
                <a:solidFill>
                  <a:srgbClr val="030A18"/>
                </a:solidFill>
              </a:rPr>
              <a:t>Run performance tests, monitor logs &amp; iterate.</a:t>
            </a:r>
            <a:endParaRPr lang="en-US" sz="800" dirty="0"/>
          </a:p>
        </p:txBody>
      </p:sp>
      <p:sp>
        <p:nvSpPr>
          <p:cNvPr id="23" name="Text 16"/>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8"/>
              </a:rPr>
              <a:t>[15]</a:t>
            </a:r>
            <a:r>
              <a:rPr lang="en-US" sz="600" dirty="0">
                <a:solidFill>
                  <a:srgbClr val="000000"/>
                </a:solidFill>
              </a:rPr>
              <a:t>  </a:t>
            </a:r>
            <a:r>
              <a:rPr lang="en-US" sz="600" u="sng" dirty="0">
                <a:solidFill>
                  <a:srgbClr val="2E76BC"/>
                </a:solidFill>
                <a:hlinkClick r:id="rId9"/>
              </a:rPr>
              <a:t>[16]</a:t>
            </a:r>
            <a:r>
              <a:rPr lang="en-US" sz="600" dirty="0">
                <a:solidFill>
                  <a:srgbClr val="000000"/>
                </a:solidFill>
              </a:rPr>
              <a:t>  </a:t>
            </a:r>
            <a:r>
              <a:rPr lang="en-US" sz="600" u="sng" dirty="0">
                <a:solidFill>
                  <a:srgbClr val="2E76BC"/>
                </a:solidFill>
                <a:hlinkClick r:id="rId10"/>
              </a:rPr>
              <a:t>[17]</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412480" cy="548640"/>
          </a:xfrm>
          <a:prstGeom prst="rect">
            <a:avLst/>
          </a:prstGeom>
          <a:noFill/>
          <a:ln/>
        </p:spPr>
        <p:txBody>
          <a:bodyPr wrap="square" rtlCol="0" anchor="ctr"/>
          <a:lstStyle/>
          <a:p>
            <a:pPr marL="0" indent="0">
              <a:buNone/>
            </a:pPr>
            <a:r>
              <a:rPr lang="en-US" sz="2400" b="1" dirty="0">
                <a:solidFill>
                  <a:srgbClr val="030A18"/>
                </a:solidFill>
              </a:rPr>
              <a:t>Sample Integrations &amp; Scenarios</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595360" cy="256032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320040">
                <a:tc>
                  <a:txBody>
                    <a:bodyPr/>
                    <a:lstStyle/>
                    <a:p>
                      <a:pPr marL="0" indent="0">
                        <a:buNone/>
                      </a:pPr>
                      <a:r>
                        <a:rPr lang="en-US" sz="900" b="1" dirty="0">
                          <a:solidFill>
                            <a:srgbClr val="030A18"/>
                          </a:solidFill>
                        </a:rPr>
                        <a:t>Scenario</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solidFill>
                      <a:srgbClr val="E6EEF9"/>
                    </a:solidFill>
                  </a:tcPr>
                </a:tc>
                <a:tc>
                  <a:txBody>
                    <a:bodyPr/>
                    <a:lstStyle/>
                    <a:p>
                      <a:pPr marL="0" indent="0">
                        <a:buNone/>
                      </a:pPr>
                      <a:r>
                        <a:rPr lang="en-US" sz="900" b="1" dirty="0">
                          <a:solidFill>
                            <a:srgbClr val="030A18"/>
                          </a:solidFill>
                        </a:rPr>
                        <a:t>Type</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solidFill>
                      <a:srgbClr val="E6EEF9"/>
                    </a:solidFill>
                  </a:tcPr>
                </a:tc>
                <a:tc>
                  <a:txBody>
                    <a:bodyPr/>
                    <a:lstStyle/>
                    <a:p>
                      <a:pPr marL="0" indent="0">
                        <a:buNone/>
                      </a:pPr>
                      <a:r>
                        <a:rPr lang="en-US" sz="900" b="1" dirty="0">
                          <a:solidFill>
                            <a:srgbClr val="030A18"/>
                          </a:solidFill>
                        </a:rPr>
                        <a:t>Format</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solidFill>
                      <a:srgbClr val="E6EEF9"/>
                    </a:solidFill>
                  </a:tcPr>
                </a:tc>
                <a:tc>
                  <a:txBody>
                    <a:bodyPr/>
                    <a:lstStyle/>
                    <a:p>
                      <a:pPr marL="0" indent="0">
                        <a:buNone/>
                      </a:pPr>
                      <a:r>
                        <a:rPr lang="en-US" sz="900" b="1" dirty="0">
                          <a:solidFill>
                            <a:srgbClr val="030A18"/>
                          </a:solidFill>
                        </a:rPr>
                        <a:t>Channel</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solidFill>
                      <a:srgbClr val="E6EEF9"/>
                    </a:solidFill>
                  </a:tcPr>
                </a:tc>
                <a:tc>
                  <a:txBody>
                    <a:bodyPr/>
                    <a:lstStyle/>
                    <a:p>
                      <a:pPr marL="0" indent="0">
                        <a:buNone/>
                      </a:pPr>
                      <a:r>
                        <a:rPr lang="en-US" sz="900" b="1" dirty="0">
                          <a:solidFill>
                            <a:srgbClr val="030A18"/>
                          </a:solidFill>
                        </a:rPr>
                        <a:t>Notes</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solidFill>
                      <a:srgbClr val="E6EEF9"/>
                    </a:solidFill>
                  </a:tcPr>
                </a:tc>
                <a:extLst>
                  <a:ext uri="{0D108BD9-81ED-4DB2-BD59-A6C34878D82A}">
                    <a16:rowId xmlns:a16="http://schemas.microsoft.com/office/drawing/2014/main" val="10000"/>
                  </a:ext>
                </a:extLst>
              </a:tr>
              <a:tr h="320040">
                <a:tc>
                  <a:txBody>
                    <a:bodyPr/>
                    <a:lstStyle/>
                    <a:p>
                      <a:pPr marL="0" indent="0">
                        <a:buNone/>
                      </a:pPr>
                      <a:r>
                        <a:rPr lang="en-US" sz="900" dirty="0">
                          <a:solidFill>
                            <a:srgbClr val="030A18"/>
                          </a:solidFill>
                        </a:rPr>
                        <a:t>Sales Order Import</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Inbound</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JSON</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REST API</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Parent/child mapping; supports incremental load</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900" dirty="0">
                          <a:solidFill>
                            <a:srgbClr val="030A18"/>
                          </a:solidFill>
                        </a:rPr>
                        <a:t>Purchase Order Import (XML)</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Inbound</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XML</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Azure File Share</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Reads complex XML using helper class</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900" dirty="0">
                          <a:solidFill>
                            <a:srgbClr val="030A18"/>
                          </a:solidFill>
                        </a:rPr>
                        <a:t>Ledger Journals Import</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Inbound</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CSV/Excel</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Azure File Share</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Processes millions of lines via staging tables</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900" dirty="0">
                          <a:solidFill>
                            <a:srgbClr val="030A18"/>
                          </a:solidFill>
                        </a:rPr>
                        <a:t>Purchase Order Export</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Event‑Based</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JSON</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REST API</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Sends confirmed POs immediately on confirmation</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900" dirty="0">
                          <a:solidFill>
                            <a:srgbClr val="030A18"/>
                          </a:solidFill>
                        </a:rPr>
                        <a:t>Data Export to SFTP</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Periodic</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CSV</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SFTP</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Scheduled exports for on‑hand &amp; customer lists</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extLst>
                  <a:ext uri="{0D108BD9-81ED-4DB2-BD59-A6C34878D82A}">
                    <a16:rowId xmlns:a16="http://schemas.microsoft.com/office/drawing/2014/main" val="10005"/>
                  </a:ext>
                </a:extLst>
              </a:tr>
              <a:tr h="320040">
                <a:tc>
                  <a:txBody>
                    <a:bodyPr/>
                    <a:lstStyle/>
                    <a:p>
                      <a:pPr marL="0" indent="0">
                        <a:buNone/>
                      </a:pPr>
                      <a:r>
                        <a:rPr lang="en-US" sz="900" dirty="0">
                          <a:solidFill>
                            <a:srgbClr val="030A18"/>
                          </a:solidFill>
                        </a:rPr>
                        <a:t>Service Bus Import</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Service‑Based</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JSON</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Service Bus</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Reliable message queue integration</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extLst>
                  <a:ext uri="{0D108BD9-81ED-4DB2-BD59-A6C34878D82A}">
                    <a16:rowId xmlns:a16="http://schemas.microsoft.com/office/drawing/2014/main" val="10006"/>
                  </a:ext>
                </a:extLst>
              </a:tr>
              <a:tr h="320040">
                <a:tc>
                  <a:txBody>
                    <a:bodyPr/>
                    <a:lstStyle/>
                    <a:p>
                      <a:pPr marL="0" indent="0">
                        <a:buNone/>
                      </a:pPr>
                      <a:r>
                        <a:rPr lang="en-US" sz="900" dirty="0">
                          <a:solidFill>
                            <a:srgbClr val="030A18"/>
                          </a:solidFill>
                        </a:rPr>
                        <a:t>AI PDF Import</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Inbound</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PDF→JSON</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AI Provider</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tc>
                  <a:txBody>
                    <a:bodyPr/>
                    <a:lstStyle/>
                    <a:p>
                      <a:pPr marL="0" indent="0">
                        <a:buNone/>
                      </a:pPr>
                      <a:r>
                        <a:rPr lang="en-US" sz="900" dirty="0">
                          <a:solidFill>
                            <a:srgbClr val="030A18"/>
                          </a:solidFill>
                        </a:rPr>
                        <a:t>Parses PDF invoices to JSON using LLM</a:t>
                      </a:r>
                      <a:endParaRPr lang="en-US" sz="900" dirty="0"/>
                    </a:p>
                  </a:txBody>
                  <a:tcPr anchor="ctr">
                    <a:lnL w="6350" cap="flat" cmpd="sng" algn="ctr">
                      <a:solidFill>
                        <a:srgbClr val="B0C4DE"/>
                      </a:solidFill>
                      <a:prstDash val="solid"/>
                      <a:round/>
                      <a:headEnd type="none" w="med" len="med"/>
                      <a:tailEnd type="none" w="med" len="med"/>
                    </a:lnL>
                    <a:lnR w="6350" cap="flat" cmpd="sng" algn="ctr">
                      <a:solidFill>
                        <a:srgbClr val="B0C4DE"/>
                      </a:solidFill>
                      <a:prstDash val="solid"/>
                      <a:round/>
                      <a:headEnd type="none" w="med" len="med"/>
                      <a:tailEnd type="none" w="med" len="med"/>
                    </a:lnR>
                    <a:lnT w="6350" cap="flat" cmpd="sng" algn="ctr">
                      <a:solidFill>
                        <a:srgbClr val="B0C4DE"/>
                      </a:solidFill>
                      <a:prstDash val="solid"/>
                      <a:round/>
                      <a:headEnd type="none" w="med" len="med"/>
                      <a:tailEnd type="none" w="med" len="med"/>
                    </a:lnT>
                    <a:lnB w="6350" cap="flat" cmpd="sng" algn="ctr">
                      <a:solidFill>
                        <a:srgbClr val="B0C4D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1"/>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3"/>
              </a:rPr>
              <a:t>[18]</a:t>
            </a:r>
            <a:r>
              <a:rPr lang="en-US" sz="600" dirty="0">
                <a:solidFill>
                  <a:srgbClr val="000000"/>
                </a:solidFill>
              </a:rPr>
              <a:t>  </a:t>
            </a:r>
            <a:r>
              <a:rPr lang="en-US" sz="600" u="sng" dirty="0">
                <a:solidFill>
                  <a:srgbClr val="2E76BC"/>
                </a:solidFill>
                <a:hlinkClick r:id="rId4"/>
              </a:rPr>
              <a:t>[19]</a:t>
            </a:r>
            <a:r>
              <a:rPr lang="en-US" sz="600" dirty="0">
                <a:solidFill>
                  <a:srgbClr val="000000"/>
                </a:solidFill>
              </a:rPr>
              <a:t>  </a:t>
            </a:r>
            <a:r>
              <a:rPr lang="en-US" sz="600" u="sng" dirty="0">
                <a:solidFill>
                  <a:srgbClr val="2E76BC"/>
                </a:solidFill>
                <a:hlinkClick r:id="rId5"/>
              </a:rPr>
              <a:t>[20]</a:t>
            </a:r>
            <a:r>
              <a:rPr lang="en-US" sz="600" dirty="0">
                <a:solidFill>
                  <a:srgbClr val="000000"/>
                </a:solidFill>
              </a:rPr>
              <a:t>  </a:t>
            </a:r>
            <a:r>
              <a:rPr lang="en-US" sz="600" u="sng" dirty="0">
                <a:solidFill>
                  <a:srgbClr val="2E76BC"/>
                </a:solidFill>
                <a:hlinkClick r:id="rId6"/>
              </a:rPr>
              <a:t>[21]</a:t>
            </a:r>
            <a:r>
              <a:rPr lang="en-US" sz="600" dirty="0">
                <a:solidFill>
                  <a:srgbClr val="000000"/>
                </a:solidFill>
              </a:rPr>
              <a:t>  </a:t>
            </a:r>
            <a:r>
              <a:rPr lang="en-US" sz="600" u="sng" dirty="0">
                <a:solidFill>
                  <a:srgbClr val="2E76BC"/>
                </a:solidFill>
                <a:hlinkClick r:id="rId7"/>
              </a:rPr>
              <a:t>[22]</a:t>
            </a:r>
            <a:r>
              <a:rPr lang="en-US" sz="600" dirty="0">
                <a:solidFill>
                  <a:srgbClr val="000000"/>
                </a:solidFill>
              </a:rPr>
              <a:t>  </a:t>
            </a:r>
            <a:r>
              <a:rPr lang="en-US" sz="600" u="sng" dirty="0">
                <a:solidFill>
                  <a:srgbClr val="2E76BC"/>
                </a:solidFill>
                <a:hlinkClick r:id="rId8"/>
              </a:rPr>
              <a:t>[23]</a:t>
            </a:r>
            <a:r>
              <a:rPr lang="en-US" sz="600" dirty="0">
                <a:solidFill>
                  <a:srgbClr val="000000"/>
                </a:solidFill>
              </a:rPr>
              <a:t>  </a:t>
            </a:r>
            <a:r>
              <a:rPr lang="en-US" sz="600" u="sng" dirty="0">
                <a:solidFill>
                  <a:srgbClr val="2E76BC"/>
                </a:solidFill>
                <a:hlinkClick r:id="rId9"/>
              </a:rPr>
              <a:t>[24]</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229600" cy="548640"/>
          </a:xfrm>
          <a:prstGeom prst="rect">
            <a:avLst/>
          </a:prstGeom>
          <a:noFill/>
          <a:ln/>
        </p:spPr>
        <p:txBody>
          <a:bodyPr wrap="square" rtlCol="0" anchor="ctr"/>
          <a:lstStyle/>
          <a:p>
            <a:pPr marL="0" indent="0">
              <a:buNone/>
            </a:pPr>
            <a:r>
              <a:rPr lang="en-US" sz="2400" b="1" dirty="0">
                <a:solidFill>
                  <a:srgbClr val="030A18"/>
                </a:solidFill>
              </a:rPr>
              <a:t>Performance Testing</a:t>
            </a:r>
            <a:endParaRPr lang="en-US" sz="2400" dirty="0"/>
          </a:p>
        </p:txBody>
      </p:sp>
      <p:graphicFrame>
        <p:nvGraphicFramePr>
          <p:cNvPr id="3" name="Chart 0"/>
          <p:cNvGraphicFramePr/>
          <p:nvPr/>
        </p:nvGraphicFramePr>
        <p:xfrm>
          <a:off x="457200" y="1188720"/>
          <a:ext cx="41148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4663440" y="1280160"/>
            <a:ext cx="4023360" cy="2194560"/>
          </a:xfrm>
          <a:prstGeom prst="rect">
            <a:avLst/>
          </a:prstGeom>
          <a:noFill/>
          <a:ln/>
        </p:spPr>
        <p:txBody>
          <a:bodyPr wrap="square" rtlCol="0" anchor="ctr"/>
          <a:lstStyle/>
          <a:p>
            <a:pPr marL="0" indent="0">
              <a:buNone/>
            </a:pPr>
            <a:r>
              <a:rPr lang="en-US" sz="1400" b="1" dirty="0">
                <a:solidFill>
                  <a:srgbClr val="030A18"/>
                </a:solidFill>
              </a:rPr>
              <a:t>Performance Test: Ledger Journal Import
</a:t>
            </a:r>
            <a:r>
              <a:rPr lang="en-US" sz="1000" dirty="0">
                <a:solidFill>
                  <a:srgbClr val="030A18"/>
                </a:solidFill>
              </a:rPr>
              <a:t>• 1 M lines (1 k files × 1 k lines) imported via Azure File Share
• D8 Standard VM: ~4.7 h
• D16s VM: ~3.1 h
• Increase VM size and tune batch threads for faster processing</a:t>
            </a:r>
            <a:endParaRPr lang="en-US" sz="1400" dirty="0"/>
          </a:p>
        </p:txBody>
      </p:sp>
      <p:sp>
        <p:nvSpPr>
          <p:cNvPr id="5" name="Text 2"/>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4"/>
              </a:rPr>
              <a:t>[25]</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229600" cy="548640"/>
          </a:xfrm>
          <a:prstGeom prst="rect">
            <a:avLst/>
          </a:prstGeom>
          <a:noFill/>
          <a:ln/>
        </p:spPr>
        <p:txBody>
          <a:bodyPr wrap="square" rtlCol="0" anchor="ctr"/>
          <a:lstStyle/>
          <a:p>
            <a:pPr marL="0" indent="0">
              <a:buNone/>
            </a:pPr>
            <a:r>
              <a:rPr lang="en-US" sz="2400" b="1" dirty="0">
                <a:solidFill>
                  <a:srgbClr val="030A18"/>
                </a:solidFill>
              </a:rPr>
              <a:t>AI‑Driven Purchase Order Import</a:t>
            </a:r>
            <a:endParaRPr lang="en-US" sz="2400" dirty="0"/>
          </a:p>
        </p:txBody>
      </p:sp>
      <p:pic>
        <p:nvPicPr>
          <p:cNvPr id="3" name="Image 0" descr="preencoded.png"/>
          <p:cNvPicPr>
            <a:picLocks noChangeAspect="1"/>
          </p:cNvPicPr>
          <p:nvPr/>
        </p:nvPicPr>
        <p:blipFill>
          <a:blip r:embed="rId3"/>
          <a:stretch>
            <a:fillRect/>
          </a:stretch>
        </p:blipFill>
        <p:spPr>
          <a:xfrm>
            <a:off x="365760" y="1005840"/>
            <a:ext cx="4114800" cy="2651760"/>
          </a:xfrm>
          <a:prstGeom prst="rect">
            <a:avLst/>
          </a:prstGeom>
        </p:spPr>
      </p:pic>
      <p:sp>
        <p:nvSpPr>
          <p:cNvPr id="4" name="Text 1"/>
          <p:cNvSpPr/>
          <p:nvPr/>
        </p:nvSpPr>
        <p:spPr>
          <a:xfrm>
            <a:off x="4754880" y="1005840"/>
            <a:ext cx="3931920" cy="2651760"/>
          </a:xfrm>
          <a:prstGeom prst="rect">
            <a:avLst/>
          </a:prstGeom>
          <a:noFill/>
          <a:ln/>
        </p:spPr>
        <p:txBody>
          <a:bodyPr wrap="square" rtlCol="0" anchor="ctr"/>
          <a:lstStyle/>
          <a:p>
            <a:pPr marL="0" indent="0">
              <a:buNone/>
            </a:pPr>
            <a:r>
              <a:rPr lang="en-US" sz="1400" b="1" dirty="0">
                <a:solidFill>
                  <a:srgbClr val="030A18"/>
                </a:solidFill>
              </a:rPr>
              <a:t>Overview
</a:t>
            </a:r>
            <a:r>
              <a:rPr lang="en-US" sz="1000" dirty="0">
                <a:solidFill>
                  <a:srgbClr val="030A18"/>
                </a:solidFill>
              </a:rPr>
              <a:t>• Connect to Gemini 2.5 via AI Provider setup
• Define a prompt &amp; extraction rules to read invoice header and lines
• Produce JSON output and create a purchase order using inbound mapping
• Validate totals, charges and line values; handle multi‑line PDFs
• Reusable classes for AI provider, processing &amp; manual import forms</a:t>
            </a:r>
            <a:endParaRPr lang="en-US" sz="1400" dirty="0"/>
          </a:p>
        </p:txBody>
      </p:sp>
      <p:sp>
        <p:nvSpPr>
          <p:cNvPr id="5" name="Text 2"/>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4"/>
              </a:rPr>
              <a:t>[26]</a:t>
            </a:r>
            <a:r>
              <a:rPr lang="en-US" sz="600" dirty="0">
                <a:solidFill>
                  <a:srgbClr val="000000"/>
                </a:solidFill>
              </a:rPr>
              <a:t>  </a:t>
            </a:r>
            <a:r>
              <a:rPr lang="en-US" sz="600" u="sng" dirty="0">
                <a:solidFill>
                  <a:srgbClr val="2E76BC"/>
                </a:solidFill>
                <a:hlinkClick r:id="rId5"/>
              </a:rPr>
              <a:t>[27]</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229600" cy="548640"/>
          </a:xfrm>
          <a:prstGeom prst="rect">
            <a:avLst/>
          </a:prstGeom>
          <a:noFill/>
          <a:ln/>
        </p:spPr>
        <p:txBody>
          <a:bodyPr wrap="square" rtlCol="0" anchor="ctr"/>
          <a:lstStyle/>
          <a:p>
            <a:pPr marL="0" indent="0">
              <a:buNone/>
            </a:pPr>
            <a:r>
              <a:rPr lang="en-US" sz="2400" b="1" dirty="0">
                <a:solidFill>
                  <a:srgbClr val="030A18"/>
                </a:solidFill>
              </a:rPr>
              <a:t>File‑Based Inbound Flow</a:t>
            </a:r>
            <a:endParaRPr lang="en-US" sz="2400" dirty="0"/>
          </a:p>
        </p:txBody>
      </p:sp>
      <p:pic>
        <p:nvPicPr>
          <p:cNvPr id="3" name="Image 0" descr="preencoded.png"/>
          <p:cNvPicPr>
            <a:picLocks noChangeAspect="1"/>
          </p:cNvPicPr>
          <p:nvPr/>
        </p:nvPicPr>
        <p:blipFill>
          <a:blip r:embed="rId3"/>
          <a:stretch>
            <a:fillRect/>
          </a:stretch>
        </p:blipFill>
        <p:spPr>
          <a:xfrm>
            <a:off x="365760" y="1005840"/>
            <a:ext cx="4114800" cy="2834640"/>
          </a:xfrm>
          <a:prstGeom prst="rect">
            <a:avLst/>
          </a:prstGeom>
        </p:spPr>
      </p:pic>
      <p:sp>
        <p:nvSpPr>
          <p:cNvPr id="4" name="Text 1"/>
          <p:cNvSpPr/>
          <p:nvPr/>
        </p:nvSpPr>
        <p:spPr>
          <a:xfrm>
            <a:off x="4663440" y="1005840"/>
            <a:ext cx="4114800" cy="2834640"/>
          </a:xfrm>
          <a:prstGeom prst="rect">
            <a:avLst/>
          </a:prstGeom>
          <a:noFill/>
          <a:ln/>
        </p:spPr>
        <p:txBody>
          <a:bodyPr wrap="square" rtlCol="0" anchor="ctr"/>
          <a:lstStyle/>
          <a:p>
            <a:pPr marL="0" indent="0">
              <a:buNone/>
            </a:pPr>
            <a:r>
              <a:rPr lang="en-US" sz="1400" b="1" dirty="0">
                <a:solidFill>
                  <a:srgbClr val="030A18"/>
                </a:solidFill>
              </a:rPr>
              <a:t>Process Overview
</a:t>
            </a:r>
            <a:r>
              <a:rPr lang="en-US" sz="1000" dirty="0">
                <a:solidFill>
                  <a:srgbClr val="030A18"/>
                </a:solidFill>
              </a:rPr>
              <a:t>1. Incoming messages are stored on Azure File Share or SFTP.
2. Batch job loads messages into the Incoming queue.
3. Processing job stages data, validates and creates documents (PO, sales order or journal).
4. On success: update status &amp; send notifications. On failure: log details and mark as Error.</a:t>
            </a:r>
            <a:endParaRPr lang="en-US" sz="1400" dirty="0"/>
          </a:p>
        </p:txBody>
      </p:sp>
      <p:sp>
        <p:nvSpPr>
          <p:cNvPr id="5" name="Text 2"/>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4"/>
              </a:rPr>
              <a:t>[28]</a:t>
            </a:r>
            <a:r>
              <a:rPr lang="en-US" sz="600" dirty="0">
                <a:solidFill>
                  <a:srgbClr val="000000"/>
                </a:solidFill>
              </a:rPr>
              <a:t>  </a:t>
            </a:r>
            <a:r>
              <a:rPr lang="en-US" sz="600" u="sng" dirty="0">
                <a:solidFill>
                  <a:srgbClr val="2E76BC"/>
                </a:solidFill>
                <a:hlinkClick r:id="rId5"/>
              </a:rPr>
              <a:t>[29]</a:t>
            </a:r>
            <a:r>
              <a:rPr lang="en-US" sz="600" dirty="0">
                <a:solidFill>
                  <a:srgbClr val="000000"/>
                </a:solidFill>
              </a:rPr>
              <a:t>  </a:t>
            </a:r>
            <a:r>
              <a:rPr lang="en-US" sz="600" u="sng" dirty="0">
                <a:solidFill>
                  <a:srgbClr val="2E76BC"/>
                </a:solidFill>
                <a:hlinkClick r:id="rId6"/>
              </a:rPr>
              <a:t>[30]</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365760"/>
            <a:ext cx="8412480" cy="548640"/>
          </a:xfrm>
          <a:prstGeom prst="rect">
            <a:avLst/>
          </a:prstGeom>
          <a:noFill/>
          <a:ln/>
        </p:spPr>
        <p:txBody>
          <a:bodyPr wrap="square" rtlCol="0" anchor="ctr"/>
          <a:lstStyle/>
          <a:p>
            <a:pPr marL="0" indent="0">
              <a:buNone/>
            </a:pPr>
            <a:r>
              <a:rPr lang="en-US" sz="2400" b="1" dirty="0">
                <a:solidFill>
                  <a:srgbClr val="030A18"/>
                </a:solidFill>
              </a:rPr>
              <a:t>Event‑Based Outbound Flow</a:t>
            </a:r>
            <a:endParaRPr lang="en-US" sz="2400" dirty="0"/>
          </a:p>
        </p:txBody>
      </p:sp>
      <p:pic>
        <p:nvPicPr>
          <p:cNvPr id="3" name="Image 0" descr="preencoded.png"/>
          <p:cNvPicPr>
            <a:picLocks noChangeAspect="1"/>
          </p:cNvPicPr>
          <p:nvPr/>
        </p:nvPicPr>
        <p:blipFill>
          <a:blip r:embed="rId3"/>
          <a:stretch>
            <a:fillRect/>
          </a:stretch>
        </p:blipFill>
        <p:spPr>
          <a:xfrm>
            <a:off x="365760" y="1005840"/>
            <a:ext cx="4114800" cy="2743200"/>
          </a:xfrm>
          <a:prstGeom prst="rect">
            <a:avLst/>
          </a:prstGeom>
        </p:spPr>
      </p:pic>
      <p:sp>
        <p:nvSpPr>
          <p:cNvPr id="4" name="Text 1"/>
          <p:cNvSpPr/>
          <p:nvPr/>
        </p:nvSpPr>
        <p:spPr>
          <a:xfrm>
            <a:off x="4663440" y="1005840"/>
            <a:ext cx="4114800" cy="2743200"/>
          </a:xfrm>
          <a:prstGeom prst="rect">
            <a:avLst/>
          </a:prstGeom>
          <a:noFill/>
          <a:ln/>
        </p:spPr>
        <p:txBody>
          <a:bodyPr wrap="square" rtlCol="0" anchor="ctr"/>
          <a:lstStyle/>
          <a:p>
            <a:pPr marL="0" indent="0">
              <a:buNone/>
            </a:pPr>
            <a:r>
              <a:rPr lang="en-US" sz="1400" b="1" dirty="0">
                <a:solidFill>
                  <a:srgbClr val="030A18"/>
                </a:solidFill>
              </a:rPr>
              <a:t>Integration Mechanics
</a:t>
            </a:r>
            <a:r>
              <a:rPr lang="en-US" sz="1000" dirty="0">
                <a:solidFill>
                  <a:srgbClr val="030A18"/>
                </a:solidFill>
              </a:rPr>
              <a:t>• Triggered by confirming a Purchase Order.
• Framework checks conditions: PO in Confirmed state, correct vendor group, not sent before.
• Builds JSON payload and calls partner Web API in real time.
• Logs export status and handles responses to ensure traceability.</a:t>
            </a:r>
            <a:endParaRPr lang="en-US" sz="1400" dirty="0"/>
          </a:p>
        </p:txBody>
      </p:sp>
      <p:sp>
        <p:nvSpPr>
          <p:cNvPr id="5" name="Text 2"/>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4"/>
              </a:rPr>
              <a:t>[31]</a:t>
            </a:r>
            <a:r>
              <a:rPr lang="en-US" sz="600" dirty="0">
                <a:solidFill>
                  <a:srgbClr val="000000"/>
                </a:solidFill>
              </a:rPr>
              <a:t>  </a:t>
            </a:r>
            <a:r>
              <a:rPr lang="en-US" sz="600" u="sng" dirty="0">
                <a:solidFill>
                  <a:srgbClr val="2E76BC"/>
                </a:solidFill>
                <a:hlinkClick r:id="rId5"/>
              </a:rPr>
              <a:t>[32]</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365760" y="457200"/>
            <a:ext cx="8412480" cy="548640"/>
          </a:xfrm>
          <a:prstGeom prst="rect">
            <a:avLst/>
          </a:prstGeom>
          <a:noFill/>
          <a:ln/>
        </p:spPr>
        <p:txBody>
          <a:bodyPr wrap="square" rtlCol="0" anchor="ctr"/>
          <a:lstStyle/>
          <a:p>
            <a:pPr marL="0" indent="0">
              <a:buNone/>
            </a:pPr>
            <a:r>
              <a:rPr lang="en-US" sz="2400" b="1" dirty="0">
                <a:solidFill>
                  <a:srgbClr val="030A18"/>
                </a:solidFill>
              </a:rPr>
              <a:t>Conclusion &amp; Next Steps</a:t>
            </a:r>
            <a:endParaRPr lang="en-US" sz="2400" dirty="0"/>
          </a:p>
        </p:txBody>
      </p:sp>
      <p:pic>
        <p:nvPicPr>
          <p:cNvPr id="3" name="Image 0" descr="preencoded.png"/>
          <p:cNvPicPr>
            <a:picLocks noChangeAspect="1"/>
          </p:cNvPicPr>
          <p:nvPr/>
        </p:nvPicPr>
        <p:blipFill>
          <a:blip r:embed="rId3"/>
          <a:stretch>
            <a:fillRect/>
          </a:stretch>
        </p:blipFill>
        <p:spPr>
          <a:xfrm>
            <a:off x="365760" y="1280160"/>
            <a:ext cx="548640" cy="548640"/>
          </a:xfrm>
          <a:prstGeom prst="rect">
            <a:avLst/>
          </a:prstGeom>
        </p:spPr>
      </p:pic>
      <p:sp>
        <p:nvSpPr>
          <p:cNvPr id="4" name="Text 1"/>
          <p:cNvSpPr/>
          <p:nvPr/>
        </p:nvSpPr>
        <p:spPr>
          <a:xfrm>
            <a:off x="1005840" y="1188720"/>
            <a:ext cx="7772400" cy="2743200"/>
          </a:xfrm>
          <a:prstGeom prst="rect">
            <a:avLst/>
          </a:prstGeom>
          <a:noFill/>
          <a:ln/>
        </p:spPr>
        <p:txBody>
          <a:bodyPr wrap="square" rtlCol="0" anchor="ctr"/>
          <a:lstStyle/>
          <a:p>
            <a:pPr marL="0" indent="0">
              <a:buNone/>
            </a:pPr>
            <a:r>
              <a:rPr lang="en-US" sz="1200" dirty="0">
                <a:solidFill>
                  <a:srgbClr val="030A18"/>
                </a:solidFill>
              </a:rPr>
              <a:t>The External Integration framework delivers a powerful, modular and extensible platform for connecting D365FO with the outside world.
</a:t>
            </a:r>
            <a:r>
              <a:rPr lang="en-US" sz="1000" dirty="0">
                <a:solidFill>
                  <a:srgbClr val="030A18"/>
                </a:solidFill>
              </a:rPr>
              <a:t>• Supports inbound, event‑driven, periodic and service‑based integrations
• Handles multiple data formats and channels, from CSV &amp; XML to AI‑driven PDF processing
• Provides comprehensive error handling, logging and performance tuning
• Comes with sample implementations to accelerate your projects
</a:t>
            </a:r>
            <a:r>
              <a:rPr lang="en-US" sz="1000" b="1" dirty="0">
                <a:solidFill>
                  <a:srgbClr val="2E76BC"/>
                </a:solidFill>
              </a:rPr>
              <a:t>Explore the documentation and sample code to build your own integrations!</a:t>
            </a:r>
            <a:endParaRPr lang="en-US" sz="1200" dirty="0"/>
          </a:p>
        </p:txBody>
      </p:sp>
      <p:sp>
        <p:nvSpPr>
          <p:cNvPr id="5" name="Text 2"/>
          <p:cNvSpPr/>
          <p:nvPr/>
        </p:nvSpPr>
        <p:spPr>
          <a:xfrm>
            <a:off x="457200" y="4892040"/>
            <a:ext cx="8229600" cy="228600"/>
          </a:xfrm>
          <a:prstGeom prst="rect">
            <a:avLst/>
          </a:prstGeom>
          <a:noFill/>
          <a:ln/>
        </p:spPr>
        <p:txBody>
          <a:bodyPr wrap="square" rtlCol="0" anchor="ctr"/>
          <a:lstStyle/>
          <a:p>
            <a:pPr marL="0" indent="0">
              <a:buNone/>
            </a:pPr>
            <a:r>
              <a:rPr lang="en-US" sz="600" u="sng" dirty="0">
                <a:solidFill>
                  <a:srgbClr val="2E76BC"/>
                </a:solidFill>
                <a:hlinkClick r:id="rId4"/>
              </a:rPr>
              <a:t>[33]</a:t>
            </a:r>
            <a:r>
              <a:rPr lang="en-US" sz="600" dirty="0">
                <a:solidFill>
                  <a:srgbClr val="000000"/>
                </a:solidFill>
              </a:rPr>
              <a:t>  </a:t>
            </a:r>
            <a:r>
              <a:rPr lang="en-US" sz="600" u="sng" dirty="0">
                <a:solidFill>
                  <a:srgbClr val="2E76BC"/>
                </a:solidFill>
                <a:hlinkClick r:id="rId5"/>
              </a:rPr>
              <a:t>[34]</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884</Words>
  <Application>Microsoft Office PowerPoint</Application>
  <PresentationFormat>On-screen Show (16:9)</PresentationFormat>
  <Paragraphs>132</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Denis Trunin</cp:lastModifiedBy>
  <cp:revision>1</cp:revision>
  <dcterms:created xsi:type="dcterms:W3CDTF">2025-10-25T03:51:22Z</dcterms:created>
  <dcterms:modified xsi:type="dcterms:W3CDTF">2025-10-25T06:17:51Z</dcterms:modified>
</cp:coreProperties>
</file>